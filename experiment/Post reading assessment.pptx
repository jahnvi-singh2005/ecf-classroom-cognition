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681"/>
  </p:normalViewPr>
  <p:slideViewPr>
    <p:cSldViewPr snapToGrid="0">
      <p:cViewPr varScale="1">
        <p:scale>
          <a:sx n="124" d="100"/>
          <a:sy n="124" d="100"/>
        </p:scale>
        <p:origin x="2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C6A40-1F6A-69A2-1AFA-FBA8D2CA090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C8295FA-2240-B0BE-40E0-2C8CE9130C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AFDA185-DDF6-B21D-3124-447C64EED607}"/>
              </a:ext>
            </a:extLst>
          </p:cNvPr>
          <p:cNvSpPr>
            <a:spLocks noGrp="1"/>
          </p:cNvSpPr>
          <p:nvPr>
            <p:ph type="dt" sz="half" idx="10"/>
          </p:nvPr>
        </p:nvSpPr>
        <p:spPr/>
        <p:txBody>
          <a:bodyPr/>
          <a:lstStyle/>
          <a:p>
            <a:fld id="{9A7D39FB-6F23-304F-BD38-DBD7E828B3A3}" type="datetimeFigureOut">
              <a:rPr lang="en-US" smtClean="0"/>
              <a:t>3/14/26</a:t>
            </a:fld>
            <a:endParaRPr lang="en-US"/>
          </a:p>
        </p:txBody>
      </p:sp>
      <p:sp>
        <p:nvSpPr>
          <p:cNvPr id="5" name="Footer Placeholder 4">
            <a:extLst>
              <a:ext uri="{FF2B5EF4-FFF2-40B4-BE49-F238E27FC236}">
                <a16:creationId xmlns:a16="http://schemas.microsoft.com/office/drawing/2014/main" id="{3D6AB1AE-A92F-5D84-2E1E-EEBEE0E78F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166F21-6CD9-866E-5264-3FC4F8CCA318}"/>
              </a:ext>
            </a:extLst>
          </p:cNvPr>
          <p:cNvSpPr>
            <a:spLocks noGrp="1"/>
          </p:cNvSpPr>
          <p:nvPr>
            <p:ph type="sldNum" sz="quarter" idx="12"/>
          </p:nvPr>
        </p:nvSpPr>
        <p:spPr/>
        <p:txBody>
          <a:bodyPr/>
          <a:lstStyle/>
          <a:p>
            <a:fld id="{F92A3244-2838-EB4E-B8D9-FA04F1A344E6}" type="slidenum">
              <a:rPr lang="en-US" smtClean="0"/>
              <a:t>‹#›</a:t>
            </a:fld>
            <a:endParaRPr lang="en-US"/>
          </a:p>
        </p:txBody>
      </p:sp>
    </p:spTree>
    <p:extLst>
      <p:ext uri="{BB962C8B-B14F-4D97-AF65-F5344CB8AC3E}">
        <p14:creationId xmlns:p14="http://schemas.microsoft.com/office/powerpoint/2010/main" val="53183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C2A9-4D85-4955-6C49-8FB246E3FB2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363A301-4E7F-3D3C-1D67-239312677FE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A95137C-DE66-4DFE-0D69-B164BFACE168}"/>
              </a:ext>
            </a:extLst>
          </p:cNvPr>
          <p:cNvSpPr>
            <a:spLocks noGrp="1"/>
          </p:cNvSpPr>
          <p:nvPr>
            <p:ph type="dt" sz="half" idx="10"/>
          </p:nvPr>
        </p:nvSpPr>
        <p:spPr/>
        <p:txBody>
          <a:bodyPr/>
          <a:lstStyle/>
          <a:p>
            <a:fld id="{9A7D39FB-6F23-304F-BD38-DBD7E828B3A3}" type="datetimeFigureOut">
              <a:rPr lang="en-US" smtClean="0"/>
              <a:t>3/14/26</a:t>
            </a:fld>
            <a:endParaRPr lang="en-US"/>
          </a:p>
        </p:txBody>
      </p:sp>
      <p:sp>
        <p:nvSpPr>
          <p:cNvPr id="5" name="Footer Placeholder 4">
            <a:extLst>
              <a:ext uri="{FF2B5EF4-FFF2-40B4-BE49-F238E27FC236}">
                <a16:creationId xmlns:a16="http://schemas.microsoft.com/office/drawing/2014/main" id="{ECE961EB-CCF6-F21D-8C9D-D3B2A37B1B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23824C-CB11-902B-A568-B51C2F85A19A}"/>
              </a:ext>
            </a:extLst>
          </p:cNvPr>
          <p:cNvSpPr>
            <a:spLocks noGrp="1"/>
          </p:cNvSpPr>
          <p:nvPr>
            <p:ph type="sldNum" sz="quarter" idx="12"/>
          </p:nvPr>
        </p:nvSpPr>
        <p:spPr/>
        <p:txBody>
          <a:bodyPr/>
          <a:lstStyle/>
          <a:p>
            <a:fld id="{F92A3244-2838-EB4E-B8D9-FA04F1A344E6}" type="slidenum">
              <a:rPr lang="en-US" smtClean="0"/>
              <a:t>‹#›</a:t>
            </a:fld>
            <a:endParaRPr lang="en-US"/>
          </a:p>
        </p:txBody>
      </p:sp>
    </p:spTree>
    <p:extLst>
      <p:ext uri="{BB962C8B-B14F-4D97-AF65-F5344CB8AC3E}">
        <p14:creationId xmlns:p14="http://schemas.microsoft.com/office/powerpoint/2010/main" val="3332755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8C45-DC58-5559-BB61-76A893019B0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0601F5A-EF5E-A67F-9DEC-381645921C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4DDA333-70FF-7BA3-0664-C2CD18CB3B1C}"/>
              </a:ext>
            </a:extLst>
          </p:cNvPr>
          <p:cNvSpPr>
            <a:spLocks noGrp="1"/>
          </p:cNvSpPr>
          <p:nvPr>
            <p:ph type="dt" sz="half" idx="10"/>
          </p:nvPr>
        </p:nvSpPr>
        <p:spPr/>
        <p:txBody>
          <a:bodyPr/>
          <a:lstStyle/>
          <a:p>
            <a:fld id="{9A7D39FB-6F23-304F-BD38-DBD7E828B3A3}" type="datetimeFigureOut">
              <a:rPr lang="en-US" smtClean="0"/>
              <a:t>3/14/26</a:t>
            </a:fld>
            <a:endParaRPr lang="en-US"/>
          </a:p>
        </p:txBody>
      </p:sp>
      <p:sp>
        <p:nvSpPr>
          <p:cNvPr id="5" name="Footer Placeholder 4">
            <a:extLst>
              <a:ext uri="{FF2B5EF4-FFF2-40B4-BE49-F238E27FC236}">
                <a16:creationId xmlns:a16="http://schemas.microsoft.com/office/drawing/2014/main" id="{D5AB7A64-047B-F0F1-50AC-C1E7018E11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A97010-DD0E-0709-42FE-1F435ACF6F7D}"/>
              </a:ext>
            </a:extLst>
          </p:cNvPr>
          <p:cNvSpPr>
            <a:spLocks noGrp="1"/>
          </p:cNvSpPr>
          <p:nvPr>
            <p:ph type="sldNum" sz="quarter" idx="12"/>
          </p:nvPr>
        </p:nvSpPr>
        <p:spPr/>
        <p:txBody>
          <a:bodyPr/>
          <a:lstStyle/>
          <a:p>
            <a:fld id="{F92A3244-2838-EB4E-B8D9-FA04F1A344E6}" type="slidenum">
              <a:rPr lang="en-US" smtClean="0"/>
              <a:t>‹#›</a:t>
            </a:fld>
            <a:endParaRPr lang="en-US"/>
          </a:p>
        </p:txBody>
      </p:sp>
    </p:spTree>
    <p:extLst>
      <p:ext uri="{BB962C8B-B14F-4D97-AF65-F5344CB8AC3E}">
        <p14:creationId xmlns:p14="http://schemas.microsoft.com/office/powerpoint/2010/main" val="2955852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CBD06-91C1-920E-D944-E24869A2389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D93C7DA-BE00-B500-3052-A159551EE3F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FFC0DBA-2BCB-40DA-EF46-484A5665F5F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63EA0F6-629D-842F-9442-1E3CAED0E958}"/>
              </a:ext>
            </a:extLst>
          </p:cNvPr>
          <p:cNvSpPr>
            <a:spLocks noGrp="1"/>
          </p:cNvSpPr>
          <p:nvPr>
            <p:ph type="dt" sz="half" idx="10"/>
          </p:nvPr>
        </p:nvSpPr>
        <p:spPr/>
        <p:txBody>
          <a:bodyPr/>
          <a:lstStyle/>
          <a:p>
            <a:fld id="{9A7D39FB-6F23-304F-BD38-DBD7E828B3A3}" type="datetimeFigureOut">
              <a:rPr lang="en-US" smtClean="0"/>
              <a:t>3/14/26</a:t>
            </a:fld>
            <a:endParaRPr lang="en-US"/>
          </a:p>
        </p:txBody>
      </p:sp>
      <p:sp>
        <p:nvSpPr>
          <p:cNvPr id="6" name="Footer Placeholder 5">
            <a:extLst>
              <a:ext uri="{FF2B5EF4-FFF2-40B4-BE49-F238E27FC236}">
                <a16:creationId xmlns:a16="http://schemas.microsoft.com/office/drawing/2014/main" id="{44D239DB-A82F-2F26-6913-FEFDFD7761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CA36B2-5F05-A62B-CBDE-2E6DC143614A}"/>
              </a:ext>
            </a:extLst>
          </p:cNvPr>
          <p:cNvSpPr>
            <a:spLocks noGrp="1"/>
          </p:cNvSpPr>
          <p:nvPr>
            <p:ph type="sldNum" sz="quarter" idx="12"/>
          </p:nvPr>
        </p:nvSpPr>
        <p:spPr/>
        <p:txBody>
          <a:bodyPr/>
          <a:lstStyle/>
          <a:p>
            <a:fld id="{F92A3244-2838-EB4E-B8D9-FA04F1A344E6}" type="slidenum">
              <a:rPr lang="en-US" smtClean="0"/>
              <a:t>‹#›</a:t>
            </a:fld>
            <a:endParaRPr lang="en-US"/>
          </a:p>
        </p:txBody>
      </p:sp>
    </p:spTree>
    <p:extLst>
      <p:ext uri="{BB962C8B-B14F-4D97-AF65-F5344CB8AC3E}">
        <p14:creationId xmlns:p14="http://schemas.microsoft.com/office/powerpoint/2010/main" val="572983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FF5F8-B841-1A11-528F-54D73A38F37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FBA3F03-2E82-0F94-982A-8D77837BD3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1991F71-E9D0-2526-ACE5-8F5F982BC76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5FF0010-2E5C-6218-7FAC-9B33D6E559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0A39922-1DB7-DD3D-A9F0-C2065D5D6BB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3213CA2-CF52-56FF-A77D-367B466A48C6}"/>
              </a:ext>
            </a:extLst>
          </p:cNvPr>
          <p:cNvSpPr>
            <a:spLocks noGrp="1"/>
          </p:cNvSpPr>
          <p:nvPr>
            <p:ph type="dt" sz="half" idx="10"/>
          </p:nvPr>
        </p:nvSpPr>
        <p:spPr/>
        <p:txBody>
          <a:bodyPr/>
          <a:lstStyle/>
          <a:p>
            <a:fld id="{9A7D39FB-6F23-304F-BD38-DBD7E828B3A3}" type="datetimeFigureOut">
              <a:rPr lang="en-US" smtClean="0"/>
              <a:t>3/14/26</a:t>
            </a:fld>
            <a:endParaRPr lang="en-US"/>
          </a:p>
        </p:txBody>
      </p:sp>
      <p:sp>
        <p:nvSpPr>
          <p:cNvPr id="8" name="Footer Placeholder 7">
            <a:extLst>
              <a:ext uri="{FF2B5EF4-FFF2-40B4-BE49-F238E27FC236}">
                <a16:creationId xmlns:a16="http://schemas.microsoft.com/office/drawing/2014/main" id="{BBA6090D-4031-8CCC-473B-9371D9ED84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A5E798-DDD8-4B67-E377-0B7260DA62B9}"/>
              </a:ext>
            </a:extLst>
          </p:cNvPr>
          <p:cNvSpPr>
            <a:spLocks noGrp="1"/>
          </p:cNvSpPr>
          <p:nvPr>
            <p:ph type="sldNum" sz="quarter" idx="12"/>
          </p:nvPr>
        </p:nvSpPr>
        <p:spPr/>
        <p:txBody>
          <a:bodyPr/>
          <a:lstStyle/>
          <a:p>
            <a:fld id="{F92A3244-2838-EB4E-B8D9-FA04F1A344E6}" type="slidenum">
              <a:rPr lang="en-US" smtClean="0"/>
              <a:t>‹#›</a:t>
            </a:fld>
            <a:endParaRPr lang="en-US"/>
          </a:p>
        </p:txBody>
      </p:sp>
    </p:spTree>
    <p:extLst>
      <p:ext uri="{BB962C8B-B14F-4D97-AF65-F5344CB8AC3E}">
        <p14:creationId xmlns:p14="http://schemas.microsoft.com/office/powerpoint/2010/main" val="4185922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951D7-154D-DFEF-4BEF-330D822235F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3B06C6D-3FE0-523C-2C8C-38F9C445E008}"/>
              </a:ext>
            </a:extLst>
          </p:cNvPr>
          <p:cNvSpPr>
            <a:spLocks noGrp="1"/>
          </p:cNvSpPr>
          <p:nvPr>
            <p:ph type="dt" sz="half" idx="10"/>
          </p:nvPr>
        </p:nvSpPr>
        <p:spPr/>
        <p:txBody>
          <a:bodyPr/>
          <a:lstStyle/>
          <a:p>
            <a:fld id="{9A7D39FB-6F23-304F-BD38-DBD7E828B3A3}" type="datetimeFigureOut">
              <a:rPr lang="en-US" smtClean="0"/>
              <a:t>3/14/26</a:t>
            </a:fld>
            <a:endParaRPr lang="en-US"/>
          </a:p>
        </p:txBody>
      </p:sp>
      <p:sp>
        <p:nvSpPr>
          <p:cNvPr id="4" name="Footer Placeholder 3">
            <a:extLst>
              <a:ext uri="{FF2B5EF4-FFF2-40B4-BE49-F238E27FC236}">
                <a16:creationId xmlns:a16="http://schemas.microsoft.com/office/drawing/2014/main" id="{E7199AC1-B5D3-ADA1-9F91-4CD38BAD2E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94B993-1A0A-80BC-4BE4-29BAECE9FD91}"/>
              </a:ext>
            </a:extLst>
          </p:cNvPr>
          <p:cNvSpPr>
            <a:spLocks noGrp="1"/>
          </p:cNvSpPr>
          <p:nvPr>
            <p:ph type="sldNum" sz="quarter" idx="12"/>
          </p:nvPr>
        </p:nvSpPr>
        <p:spPr/>
        <p:txBody>
          <a:bodyPr/>
          <a:lstStyle/>
          <a:p>
            <a:fld id="{F92A3244-2838-EB4E-B8D9-FA04F1A344E6}" type="slidenum">
              <a:rPr lang="en-US" smtClean="0"/>
              <a:t>‹#›</a:t>
            </a:fld>
            <a:endParaRPr lang="en-US"/>
          </a:p>
        </p:txBody>
      </p:sp>
    </p:spTree>
    <p:extLst>
      <p:ext uri="{BB962C8B-B14F-4D97-AF65-F5344CB8AC3E}">
        <p14:creationId xmlns:p14="http://schemas.microsoft.com/office/powerpoint/2010/main" val="2100436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1CFA25-98A7-2672-C195-A19B48C68577}"/>
              </a:ext>
            </a:extLst>
          </p:cNvPr>
          <p:cNvSpPr>
            <a:spLocks noGrp="1"/>
          </p:cNvSpPr>
          <p:nvPr>
            <p:ph type="dt" sz="half" idx="10"/>
          </p:nvPr>
        </p:nvSpPr>
        <p:spPr/>
        <p:txBody>
          <a:bodyPr/>
          <a:lstStyle/>
          <a:p>
            <a:fld id="{9A7D39FB-6F23-304F-BD38-DBD7E828B3A3}" type="datetimeFigureOut">
              <a:rPr lang="en-US" smtClean="0"/>
              <a:t>3/14/26</a:t>
            </a:fld>
            <a:endParaRPr lang="en-US"/>
          </a:p>
        </p:txBody>
      </p:sp>
      <p:sp>
        <p:nvSpPr>
          <p:cNvPr id="3" name="Footer Placeholder 2">
            <a:extLst>
              <a:ext uri="{FF2B5EF4-FFF2-40B4-BE49-F238E27FC236}">
                <a16:creationId xmlns:a16="http://schemas.microsoft.com/office/drawing/2014/main" id="{713012D0-7E1F-1CE0-9927-1190057CB4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B18EC0F-D641-80F6-AFC7-02DC7C5F5E8E}"/>
              </a:ext>
            </a:extLst>
          </p:cNvPr>
          <p:cNvSpPr>
            <a:spLocks noGrp="1"/>
          </p:cNvSpPr>
          <p:nvPr>
            <p:ph type="sldNum" sz="quarter" idx="12"/>
          </p:nvPr>
        </p:nvSpPr>
        <p:spPr/>
        <p:txBody>
          <a:bodyPr/>
          <a:lstStyle/>
          <a:p>
            <a:fld id="{F92A3244-2838-EB4E-B8D9-FA04F1A344E6}" type="slidenum">
              <a:rPr lang="en-US" smtClean="0"/>
              <a:t>‹#›</a:t>
            </a:fld>
            <a:endParaRPr lang="en-US"/>
          </a:p>
        </p:txBody>
      </p:sp>
    </p:spTree>
    <p:extLst>
      <p:ext uri="{BB962C8B-B14F-4D97-AF65-F5344CB8AC3E}">
        <p14:creationId xmlns:p14="http://schemas.microsoft.com/office/powerpoint/2010/main" val="3130314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E5A47-0090-1272-5BAF-3FF2D292F70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53C9934-D153-9A02-A8B9-47CFA733D9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A9A90CE-3445-0BC9-F7AD-F990CF474C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89CC4D4-898F-7C9C-AC6B-6C4B98999692}"/>
              </a:ext>
            </a:extLst>
          </p:cNvPr>
          <p:cNvSpPr>
            <a:spLocks noGrp="1"/>
          </p:cNvSpPr>
          <p:nvPr>
            <p:ph type="dt" sz="half" idx="10"/>
          </p:nvPr>
        </p:nvSpPr>
        <p:spPr/>
        <p:txBody>
          <a:bodyPr/>
          <a:lstStyle/>
          <a:p>
            <a:fld id="{9A7D39FB-6F23-304F-BD38-DBD7E828B3A3}" type="datetimeFigureOut">
              <a:rPr lang="en-US" smtClean="0"/>
              <a:t>3/14/26</a:t>
            </a:fld>
            <a:endParaRPr lang="en-US"/>
          </a:p>
        </p:txBody>
      </p:sp>
      <p:sp>
        <p:nvSpPr>
          <p:cNvPr id="6" name="Footer Placeholder 5">
            <a:extLst>
              <a:ext uri="{FF2B5EF4-FFF2-40B4-BE49-F238E27FC236}">
                <a16:creationId xmlns:a16="http://schemas.microsoft.com/office/drawing/2014/main" id="{C730918C-424B-409F-CE33-5FDD41C6AD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894DFF-C00A-C7C2-3420-AC32949890E6}"/>
              </a:ext>
            </a:extLst>
          </p:cNvPr>
          <p:cNvSpPr>
            <a:spLocks noGrp="1"/>
          </p:cNvSpPr>
          <p:nvPr>
            <p:ph type="sldNum" sz="quarter" idx="12"/>
          </p:nvPr>
        </p:nvSpPr>
        <p:spPr/>
        <p:txBody>
          <a:bodyPr/>
          <a:lstStyle/>
          <a:p>
            <a:fld id="{F92A3244-2838-EB4E-B8D9-FA04F1A344E6}" type="slidenum">
              <a:rPr lang="en-US" smtClean="0"/>
              <a:t>‹#›</a:t>
            </a:fld>
            <a:endParaRPr lang="en-US"/>
          </a:p>
        </p:txBody>
      </p:sp>
    </p:spTree>
    <p:extLst>
      <p:ext uri="{BB962C8B-B14F-4D97-AF65-F5344CB8AC3E}">
        <p14:creationId xmlns:p14="http://schemas.microsoft.com/office/powerpoint/2010/main" val="2027394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6DB2E-3971-295D-15EF-47AEACB3BCD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AC883D5-395D-E89D-0533-E01B70ABF8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F13367-9215-B473-6A20-E969D41A76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D759F2C-02F1-1398-DA68-160DFB19A979}"/>
              </a:ext>
            </a:extLst>
          </p:cNvPr>
          <p:cNvSpPr>
            <a:spLocks noGrp="1"/>
          </p:cNvSpPr>
          <p:nvPr>
            <p:ph type="dt" sz="half" idx="10"/>
          </p:nvPr>
        </p:nvSpPr>
        <p:spPr/>
        <p:txBody>
          <a:bodyPr/>
          <a:lstStyle/>
          <a:p>
            <a:fld id="{9A7D39FB-6F23-304F-BD38-DBD7E828B3A3}" type="datetimeFigureOut">
              <a:rPr lang="en-US" smtClean="0"/>
              <a:t>3/14/26</a:t>
            </a:fld>
            <a:endParaRPr lang="en-US"/>
          </a:p>
        </p:txBody>
      </p:sp>
      <p:sp>
        <p:nvSpPr>
          <p:cNvPr id="6" name="Footer Placeholder 5">
            <a:extLst>
              <a:ext uri="{FF2B5EF4-FFF2-40B4-BE49-F238E27FC236}">
                <a16:creationId xmlns:a16="http://schemas.microsoft.com/office/drawing/2014/main" id="{E9E1A244-0627-1D60-23AB-95993E28D2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AC4D75-3DBC-1779-0D23-7A4F56A4498E}"/>
              </a:ext>
            </a:extLst>
          </p:cNvPr>
          <p:cNvSpPr>
            <a:spLocks noGrp="1"/>
          </p:cNvSpPr>
          <p:nvPr>
            <p:ph type="sldNum" sz="quarter" idx="12"/>
          </p:nvPr>
        </p:nvSpPr>
        <p:spPr/>
        <p:txBody>
          <a:bodyPr/>
          <a:lstStyle/>
          <a:p>
            <a:fld id="{F92A3244-2838-EB4E-B8D9-FA04F1A344E6}" type="slidenum">
              <a:rPr lang="en-US" smtClean="0"/>
              <a:t>‹#›</a:t>
            </a:fld>
            <a:endParaRPr lang="en-US"/>
          </a:p>
        </p:txBody>
      </p:sp>
    </p:spTree>
    <p:extLst>
      <p:ext uri="{BB962C8B-B14F-4D97-AF65-F5344CB8AC3E}">
        <p14:creationId xmlns:p14="http://schemas.microsoft.com/office/powerpoint/2010/main" val="3988910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3CE4C-4E50-7444-D5B4-DE5EF836CC9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B5FF6B0-7E49-6612-6CBC-B9E3C9BFC1C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FBEE16A-C055-6E7A-E7DE-680B5E955B20}"/>
              </a:ext>
            </a:extLst>
          </p:cNvPr>
          <p:cNvSpPr>
            <a:spLocks noGrp="1"/>
          </p:cNvSpPr>
          <p:nvPr>
            <p:ph type="dt" sz="half" idx="10"/>
          </p:nvPr>
        </p:nvSpPr>
        <p:spPr/>
        <p:txBody>
          <a:bodyPr/>
          <a:lstStyle/>
          <a:p>
            <a:fld id="{9A7D39FB-6F23-304F-BD38-DBD7E828B3A3}" type="datetimeFigureOut">
              <a:rPr lang="en-US" smtClean="0"/>
              <a:t>3/14/26</a:t>
            </a:fld>
            <a:endParaRPr lang="en-US"/>
          </a:p>
        </p:txBody>
      </p:sp>
      <p:sp>
        <p:nvSpPr>
          <p:cNvPr id="5" name="Footer Placeholder 4">
            <a:extLst>
              <a:ext uri="{FF2B5EF4-FFF2-40B4-BE49-F238E27FC236}">
                <a16:creationId xmlns:a16="http://schemas.microsoft.com/office/drawing/2014/main" id="{11173680-0511-500F-B56B-20B6589A94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822E18-F9F6-0D3A-3216-DCDB6F43F878}"/>
              </a:ext>
            </a:extLst>
          </p:cNvPr>
          <p:cNvSpPr>
            <a:spLocks noGrp="1"/>
          </p:cNvSpPr>
          <p:nvPr>
            <p:ph type="sldNum" sz="quarter" idx="12"/>
          </p:nvPr>
        </p:nvSpPr>
        <p:spPr/>
        <p:txBody>
          <a:bodyPr/>
          <a:lstStyle/>
          <a:p>
            <a:fld id="{F92A3244-2838-EB4E-B8D9-FA04F1A344E6}" type="slidenum">
              <a:rPr lang="en-US" smtClean="0"/>
              <a:t>‹#›</a:t>
            </a:fld>
            <a:endParaRPr lang="en-US"/>
          </a:p>
        </p:txBody>
      </p:sp>
    </p:spTree>
    <p:extLst>
      <p:ext uri="{BB962C8B-B14F-4D97-AF65-F5344CB8AC3E}">
        <p14:creationId xmlns:p14="http://schemas.microsoft.com/office/powerpoint/2010/main" val="1001706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3DF8E1-8D75-DE00-6B8B-1E3867A8518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9DDFD23-0DD9-56B9-7829-9C8E0E40C4F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18CDC7C-EAE0-6832-09CB-455D6361AF61}"/>
              </a:ext>
            </a:extLst>
          </p:cNvPr>
          <p:cNvSpPr>
            <a:spLocks noGrp="1"/>
          </p:cNvSpPr>
          <p:nvPr>
            <p:ph type="dt" sz="half" idx="10"/>
          </p:nvPr>
        </p:nvSpPr>
        <p:spPr/>
        <p:txBody>
          <a:bodyPr/>
          <a:lstStyle/>
          <a:p>
            <a:fld id="{9A7D39FB-6F23-304F-BD38-DBD7E828B3A3}" type="datetimeFigureOut">
              <a:rPr lang="en-US" smtClean="0"/>
              <a:t>3/14/26</a:t>
            </a:fld>
            <a:endParaRPr lang="en-US"/>
          </a:p>
        </p:txBody>
      </p:sp>
      <p:sp>
        <p:nvSpPr>
          <p:cNvPr id="5" name="Footer Placeholder 4">
            <a:extLst>
              <a:ext uri="{FF2B5EF4-FFF2-40B4-BE49-F238E27FC236}">
                <a16:creationId xmlns:a16="http://schemas.microsoft.com/office/drawing/2014/main" id="{D4844E7E-207A-C6D2-B635-56CC14154A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9E554F-8DBB-41BD-33E5-8D199D9504A7}"/>
              </a:ext>
            </a:extLst>
          </p:cNvPr>
          <p:cNvSpPr>
            <a:spLocks noGrp="1"/>
          </p:cNvSpPr>
          <p:nvPr>
            <p:ph type="sldNum" sz="quarter" idx="12"/>
          </p:nvPr>
        </p:nvSpPr>
        <p:spPr/>
        <p:txBody>
          <a:bodyPr/>
          <a:lstStyle/>
          <a:p>
            <a:fld id="{F92A3244-2838-EB4E-B8D9-FA04F1A344E6}" type="slidenum">
              <a:rPr lang="en-US" smtClean="0"/>
              <a:t>‹#›</a:t>
            </a:fld>
            <a:endParaRPr lang="en-US"/>
          </a:p>
        </p:txBody>
      </p:sp>
    </p:spTree>
    <p:extLst>
      <p:ext uri="{BB962C8B-B14F-4D97-AF65-F5344CB8AC3E}">
        <p14:creationId xmlns:p14="http://schemas.microsoft.com/office/powerpoint/2010/main" val="2287685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2307A3-9AAF-7C18-E943-E4EE5DDACF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2D63AF8-1A99-31FD-0639-7027AC52AE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F2781C4-1828-FCD3-7533-78ABEEB387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A7D39FB-6F23-304F-BD38-DBD7E828B3A3}" type="datetimeFigureOut">
              <a:rPr lang="en-US" smtClean="0"/>
              <a:t>3/14/26</a:t>
            </a:fld>
            <a:endParaRPr lang="en-US"/>
          </a:p>
        </p:txBody>
      </p:sp>
      <p:sp>
        <p:nvSpPr>
          <p:cNvPr id="5" name="Footer Placeholder 4">
            <a:extLst>
              <a:ext uri="{FF2B5EF4-FFF2-40B4-BE49-F238E27FC236}">
                <a16:creationId xmlns:a16="http://schemas.microsoft.com/office/drawing/2014/main" id="{8BD17815-6057-D7C9-5910-2D66F98DBF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21F70E-0410-96B5-B89F-C2971710F8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2A3244-2838-EB4E-B8D9-FA04F1A344E6}" type="slidenum">
              <a:rPr lang="en-US" smtClean="0"/>
              <a:t>‹#›</a:t>
            </a:fld>
            <a:endParaRPr lang="en-US"/>
          </a:p>
        </p:txBody>
      </p:sp>
    </p:spTree>
    <p:extLst>
      <p:ext uri="{BB962C8B-B14F-4D97-AF65-F5344CB8AC3E}">
        <p14:creationId xmlns:p14="http://schemas.microsoft.com/office/powerpoint/2010/main" val="35909023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7C29C-E67F-E4BD-0723-C889ADC16507}"/>
              </a:ext>
            </a:extLst>
          </p:cNvPr>
          <p:cNvSpPr>
            <a:spLocks noGrp="1"/>
          </p:cNvSpPr>
          <p:nvPr>
            <p:ph type="ctrTitle"/>
          </p:nvPr>
        </p:nvSpPr>
        <p:spPr/>
        <p:txBody>
          <a:bodyPr/>
          <a:lstStyle/>
          <a:p>
            <a:r>
              <a:rPr lang="en-US" dirty="0"/>
              <a:t>POST READING ASSESSMENT</a:t>
            </a:r>
          </a:p>
        </p:txBody>
      </p:sp>
      <p:sp>
        <p:nvSpPr>
          <p:cNvPr id="3" name="Subtitle 2">
            <a:extLst>
              <a:ext uri="{FF2B5EF4-FFF2-40B4-BE49-F238E27FC236}">
                <a16:creationId xmlns:a16="http://schemas.microsoft.com/office/drawing/2014/main" id="{3DE3B22F-4921-AA3C-5F9A-0AA1E9E01D09}"/>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492094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8B13F-0554-05EC-997D-FA8AABDE33D1}"/>
              </a:ext>
            </a:extLst>
          </p:cNvPr>
          <p:cNvSpPr>
            <a:spLocks noGrp="1"/>
          </p:cNvSpPr>
          <p:nvPr>
            <p:ph type="ctrTitle"/>
          </p:nvPr>
        </p:nvSpPr>
        <p:spPr/>
        <p:txBody>
          <a:bodyPr/>
          <a:lstStyle/>
          <a:p>
            <a:r>
              <a:rPr lang="en-US" dirty="0"/>
              <a:t>TEXT 1 </a:t>
            </a:r>
          </a:p>
        </p:txBody>
      </p:sp>
      <p:sp>
        <p:nvSpPr>
          <p:cNvPr id="3" name="Subtitle 2">
            <a:extLst>
              <a:ext uri="{FF2B5EF4-FFF2-40B4-BE49-F238E27FC236}">
                <a16:creationId xmlns:a16="http://schemas.microsoft.com/office/drawing/2014/main" id="{F7CF8E31-7D25-0F71-D226-98BC7D8501C2}"/>
              </a:ext>
            </a:extLst>
          </p:cNvPr>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2115863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D8173-7D6B-BEE3-5DC5-907B11AF4F3A}"/>
              </a:ext>
            </a:extLst>
          </p:cNvPr>
          <p:cNvSpPr>
            <a:spLocks noGrp="1"/>
          </p:cNvSpPr>
          <p:nvPr>
            <p:ph type="title"/>
          </p:nvPr>
        </p:nvSpPr>
        <p:spPr/>
        <p:txBody>
          <a:bodyPr/>
          <a:lstStyle/>
          <a:p>
            <a:r>
              <a:rPr lang="en-IN" b="1" i="0" dirty="0">
                <a:effectLst/>
                <a:latin typeface="-apple-system"/>
              </a:rPr>
              <a:t> QUESTION - 1</a:t>
            </a:r>
            <a:br>
              <a:rPr lang="en-IN" b="1" i="0" dirty="0">
                <a:effectLst/>
                <a:latin typeface="-apple-system"/>
              </a:rPr>
            </a:br>
            <a:endParaRPr lang="en-US" dirty="0"/>
          </a:p>
        </p:txBody>
      </p:sp>
      <p:sp>
        <p:nvSpPr>
          <p:cNvPr id="3" name="Content Placeholder 2">
            <a:extLst>
              <a:ext uri="{FF2B5EF4-FFF2-40B4-BE49-F238E27FC236}">
                <a16:creationId xmlns:a16="http://schemas.microsoft.com/office/drawing/2014/main" id="{C5311629-B26F-2CFA-6A00-605B3AB975A8}"/>
              </a:ext>
            </a:extLst>
          </p:cNvPr>
          <p:cNvSpPr>
            <a:spLocks noGrp="1"/>
          </p:cNvSpPr>
          <p:nvPr>
            <p:ph idx="1"/>
          </p:nvPr>
        </p:nvSpPr>
        <p:spPr/>
        <p:txBody>
          <a:bodyPr/>
          <a:lstStyle/>
          <a:p>
            <a:pPr algn="l"/>
            <a:r>
              <a:rPr lang="en-IN" b="1" i="0" dirty="0">
                <a:effectLst/>
                <a:latin typeface="-apple-system"/>
              </a:rPr>
              <a:t>According to the text, what does the democratic peace thesis state?</a:t>
            </a:r>
          </a:p>
          <a:p>
            <a:pPr algn="l"/>
            <a:r>
              <a:rPr lang="en-IN" b="0" i="0" dirty="0">
                <a:effectLst/>
                <a:latin typeface="-apple-system"/>
              </a:rPr>
              <a:t>A) Democracies rarely go to war with any country</a:t>
            </a:r>
            <a:br>
              <a:rPr lang="en-IN" b="0" i="0" dirty="0">
                <a:effectLst/>
                <a:latin typeface="-apple-system"/>
              </a:rPr>
            </a:br>
            <a:r>
              <a:rPr lang="en-IN" b="0" i="0" dirty="0">
                <a:effectLst/>
                <a:latin typeface="-apple-system"/>
              </a:rPr>
              <a:t>B) Democracies do not fight other democracies</a:t>
            </a:r>
            <a:br>
              <a:rPr lang="en-IN" b="0" i="0" dirty="0">
                <a:effectLst/>
                <a:latin typeface="-apple-system"/>
              </a:rPr>
            </a:br>
            <a:r>
              <a:rPr lang="en-IN" b="0" i="0" dirty="0">
                <a:effectLst/>
                <a:latin typeface="-apple-system"/>
              </a:rPr>
              <a:t>C) Democracies eventually become peaceful states</a:t>
            </a:r>
            <a:br>
              <a:rPr lang="en-IN" b="0" i="0" dirty="0">
                <a:effectLst/>
                <a:latin typeface="-apple-system"/>
              </a:rPr>
            </a:br>
            <a:r>
              <a:rPr lang="en-IN" b="0" i="0" dirty="0">
                <a:effectLst/>
                <a:latin typeface="-apple-system"/>
              </a:rPr>
              <a:t>D) Democracies avoid war after the Cold War</a:t>
            </a:r>
          </a:p>
          <a:p>
            <a:pPr algn="l"/>
            <a:endParaRPr lang="en-IN" dirty="0">
              <a:latin typeface="-apple-system"/>
            </a:endParaRPr>
          </a:p>
          <a:p>
            <a:pPr algn="l"/>
            <a:endParaRPr lang="en-IN" dirty="0">
              <a:latin typeface="-apple-system"/>
            </a:endParaRPr>
          </a:p>
          <a:p>
            <a:pPr marL="0" indent="0" algn="l">
              <a:buNone/>
            </a:pPr>
            <a:r>
              <a:rPr lang="en-IN" dirty="0">
                <a:latin typeface="-apple-system"/>
              </a:rPr>
              <a:t>Minimum - 20 seconds; maximum – 40 seconds</a:t>
            </a:r>
            <a:br>
              <a:rPr lang="en-IN" dirty="0"/>
            </a:br>
            <a:endParaRPr lang="en-US" dirty="0"/>
          </a:p>
        </p:txBody>
      </p:sp>
    </p:spTree>
    <p:extLst>
      <p:ext uri="{BB962C8B-B14F-4D97-AF65-F5344CB8AC3E}">
        <p14:creationId xmlns:p14="http://schemas.microsoft.com/office/powerpoint/2010/main" val="3635902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0F43B-907D-ECAB-FC5B-0DFC259D92A2}"/>
              </a:ext>
            </a:extLst>
          </p:cNvPr>
          <p:cNvSpPr>
            <a:spLocks noGrp="1"/>
          </p:cNvSpPr>
          <p:nvPr>
            <p:ph type="title"/>
          </p:nvPr>
        </p:nvSpPr>
        <p:spPr/>
        <p:txBody>
          <a:bodyPr/>
          <a:lstStyle/>
          <a:p>
            <a:r>
              <a:rPr lang="en-US" dirty="0"/>
              <a:t>QUESTION - 2</a:t>
            </a:r>
          </a:p>
        </p:txBody>
      </p:sp>
      <p:sp>
        <p:nvSpPr>
          <p:cNvPr id="3" name="Content Placeholder 2">
            <a:extLst>
              <a:ext uri="{FF2B5EF4-FFF2-40B4-BE49-F238E27FC236}">
                <a16:creationId xmlns:a16="http://schemas.microsoft.com/office/drawing/2014/main" id="{AB79D3AD-80D2-9D6C-C1CE-ED40106E7C63}"/>
              </a:ext>
            </a:extLst>
          </p:cNvPr>
          <p:cNvSpPr>
            <a:spLocks noGrp="1"/>
          </p:cNvSpPr>
          <p:nvPr>
            <p:ph idx="1"/>
          </p:nvPr>
        </p:nvSpPr>
        <p:spPr/>
        <p:txBody>
          <a:bodyPr>
            <a:normAutofit/>
          </a:bodyPr>
          <a:lstStyle/>
          <a:p>
            <a:pPr algn="l"/>
            <a:r>
              <a:rPr lang="en-IN" b="1" i="0" dirty="0">
                <a:effectLst/>
                <a:latin typeface="-apple-system"/>
              </a:rPr>
              <a:t>Why does the author prefer the term “thesis” instead of “theory” for democratic peace?</a:t>
            </a:r>
          </a:p>
          <a:p>
            <a:pPr algn="l"/>
            <a:r>
              <a:rPr lang="en-IN" b="0" i="0" dirty="0">
                <a:effectLst/>
                <a:latin typeface="-apple-system"/>
              </a:rPr>
              <a:t>A) Because it is based only on moral beliefs</a:t>
            </a:r>
            <a:br>
              <a:rPr lang="en-IN" b="0" i="0" dirty="0">
                <a:effectLst/>
                <a:latin typeface="-apple-system"/>
              </a:rPr>
            </a:br>
            <a:r>
              <a:rPr lang="en-IN" b="0" i="0" dirty="0">
                <a:effectLst/>
                <a:latin typeface="-apple-system"/>
              </a:rPr>
              <a:t>B) Because it describes a pattern that still needs explanation</a:t>
            </a:r>
            <a:br>
              <a:rPr lang="en-IN" b="0" i="0" dirty="0">
                <a:effectLst/>
                <a:latin typeface="-apple-system"/>
              </a:rPr>
            </a:br>
            <a:r>
              <a:rPr lang="en-IN" b="0" i="0" dirty="0">
                <a:effectLst/>
                <a:latin typeface="-apple-system"/>
              </a:rPr>
              <a:t>C) Because it has been fully proven</a:t>
            </a:r>
            <a:br>
              <a:rPr lang="en-IN" b="0" i="0" dirty="0">
                <a:effectLst/>
                <a:latin typeface="-apple-system"/>
              </a:rPr>
            </a:br>
            <a:r>
              <a:rPr lang="en-IN" b="0" i="0" dirty="0">
                <a:effectLst/>
                <a:latin typeface="-apple-system"/>
              </a:rPr>
              <a:t>D) Because it applies only to modern democracies</a:t>
            </a:r>
          </a:p>
          <a:p>
            <a:pPr marL="0" indent="0">
              <a:buNone/>
            </a:pPr>
            <a:endParaRPr lang="en-IN" dirty="0"/>
          </a:p>
          <a:p>
            <a:pPr marL="0" indent="0">
              <a:buNone/>
            </a:pPr>
            <a:r>
              <a:rPr lang="en-IN" dirty="0">
                <a:latin typeface="-apple-system"/>
              </a:rPr>
              <a:t>Minimum - 20 seconds; maximum – 40 seconds</a:t>
            </a:r>
            <a:endParaRPr lang="en-IN" b="1" dirty="0"/>
          </a:p>
        </p:txBody>
      </p:sp>
    </p:spTree>
    <p:extLst>
      <p:ext uri="{BB962C8B-B14F-4D97-AF65-F5344CB8AC3E}">
        <p14:creationId xmlns:p14="http://schemas.microsoft.com/office/powerpoint/2010/main" val="685780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B10F6-5BC3-5ED1-4C1A-41174384F69E}"/>
              </a:ext>
            </a:extLst>
          </p:cNvPr>
          <p:cNvSpPr>
            <a:spLocks noGrp="1"/>
          </p:cNvSpPr>
          <p:nvPr>
            <p:ph type="title"/>
          </p:nvPr>
        </p:nvSpPr>
        <p:spPr/>
        <p:txBody>
          <a:bodyPr/>
          <a:lstStyle/>
          <a:p>
            <a:r>
              <a:rPr lang="en-US" dirty="0"/>
              <a:t>QUESTION - 3</a:t>
            </a:r>
          </a:p>
        </p:txBody>
      </p:sp>
      <p:sp>
        <p:nvSpPr>
          <p:cNvPr id="3" name="Content Placeholder 2">
            <a:extLst>
              <a:ext uri="{FF2B5EF4-FFF2-40B4-BE49-F238E27FC236}">
                <a16:creationId xmlns:a16="http://schemas.microsoft.com/office/drawing/2014/main" id="{A9FB65A0-D3D7-6491-574E-1B8FDB837203}"/>
              </a:ext>
            </a:extLst>
          </p:cNvPr>
          <p:cNvSpPr>
            <a:spLocks noGrp="1"/>
          </p:cNvSpPr>
          <p:nvPr>
            <p:ph idx="1"/>
          </p:nvPr>
        </p:nvSpPr>
        <p:spPr/>
        <p:txBody>
          <a:bodyPr/>
          <a:lstStyle/>
          <a:p>
            <a:pPr algn="l"/>
            <a:r>
              <a:rPr lang="en-IN" b="1" i="0" dirty="0">
                <a:effectLst/>
                <a:latin typeface="-apple-system"/>
              </a:rPr>
              <a:t>What is the main point of mentioning the Weimar Republic in the text?</a:t>
            </a:r>
          </a:p>
          <a:p>
            <a:pPr algn="l"/>
            <a:r>
              <a:rPr lang="en-IN" b="0" i="0" dirty="0">
                <a:effectLst/>
                <a:latin typeface="-apple-system"/>
              </a:rPr>
              <a:t>A) To show that democracies are always unstable</a:t>
            </a:r>
            <a:br>
              <a:rPr lang="en-IN" b="0" i="0" dirty="0">
                <a:effectLst/>
                <a:latin typeface="-apple-system"/>
              </a:rPr>
            </a:br>
            <a:r>
              <a:rPr lang="en-IN" b="0" i="0" dirty="0">
                <a:effectLst/>
                <a:latin typeface="-apple-system"/>
              </a:rPr>
              <a:t>B) To highlight the difficulty of defining a true democracy</a:t>
            </a:r>
            <a:br>
              <a:rPr lang="en-IN" b="0" i="0" dirty="0">
                <a:effectLst/>
                <a:latin typeface="-apple-system"/>
              </a:rPr>
            </a:br>
            <a:r>
              <a:rPr lang="en-IN" b="0" i="0" dirty="0">
                <a:effectLst/>
                <a:latin typeface="-apple-system"/>
              </a:rPr>
              <a:t>C) To argue that Germany was never democratic</a:t>
            </a:r>
            <a:br>
              <a:rPr lang="en-IN" b="0" i="0" dirty="0">
                <a:effectLst/>
                <a:latin typeface="-apple-system"/>
              </a:rPr>
            </a:br>
            <a:r>
              <a:rPr lang="en-IN" b="0" i="0" dirty="0">
                <a:effectLst/>
                <a:latin typeface="-apple-system"/>
              </a:rPr>
              <a:t>D) To explain the causes of World War I</a:t>
            </a:r>
          </a:p>
          <a:p>
            <a:pPr marL="0" indent="0">
              <a:buNone/>
            </a:pPr>
            <a:endParaRPr lang="en-US" dirty="0"/>
          </a:p>
          <a:p>
            <a:pPr marL="0" indent="0">
              <a:buNone/>
            </a:pPr>
            <a:r>
              <a:rPr lang="en-IN" dirty="0">
                <a:latin typeface="-apple-system"/>
              </a:rPr>
              <a:t>Minimum - 20 seconds; maximum – 40 seconds</a:t>
            </a:r>
            <a:endParaRPr lang="en-IN" b="1" dirty="0"/>
          </a:p>
          <a:p>
            <a:pPr marL="0" indent="0">
              <a:buNone/>
            </a:pPr>
            <a:endParaRPr lang="en-US" dirty="0"/>
          </a:p>
        </p:txBody>
      </p:sp>
    </p:spTree>
    <p:extLst>
      <p:ext uri="{BB962C8B-B14F-4D97-AF65-F5344CB8AC3E}">
        <p14:creationId xmlns:p14="http://schemas.microsoft.com/office/powerpoint/2010/main" val="88927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CFBBB-F92A-B184-3483-FA9F95C61C05}"/>
              </a:ext>
            </a:extLst>
          </p:cNvPr>
          <p:cNvSpPr>
            <a:spLocks noGrp="1"/>
          </p:cNvSpPr>
          <p:nvPr>
            <p:ph type="title"/>
          </p:nvPr>
        </p:nvSpPr>
        <p:spPr/>
        <p:txBody>
          <a:bodyPr/>
          <a:lstStyle/>
          <a:p>
            <a:r>
              <a:rPr lang="en-US" dirty="0"/>
              <a:t>QUESTION -  4</a:t>
            </a:r>
          </a:p>
        </p:txBody>
      </p:sp>
      <p:sp>
        <p:nvSpPr>
          <p:cNvPr id="3" name="Content Placeholder 2">
            <a:extLst>
              <a:ext uri="{FF2B5EF4-FFF2-40B4-BE49-F238E27FC236}">
                <a16:creationId xmlns:a16="http://schemas.microsoft.com/office/drawing/2014/main" id="{B17880E2-B9EC-EFC5-65A7-A09272263D23}"/>
              </a:ext>
            </a:extLst>
          </p:cNvPr>
          <p:cNvSpPr>
            <a:spLocks noGrp="1"/>
          </p:cNvSpPr>
          <p:nvPr>
            <p:ph idx="1"/>
          </p:nvPr>
        </p:nvSpPr>
        <p:spPr/>
        <p:txBody>
          <a:bodyPr>
            <a:normAutofit/>
          </a:bodyPr>
          <a:lstStyle/>
          <a:p>
            <a:pPr marL="0" indent="0">
              <a:buNone/>
            </a:pPr>
            <a:r>
              <a:rPr lang="en-IN" b="1" i="0" dirty="0">
                <a:effectLst/>
                <a:latin typeface="-apple-system"/>
              </a:rPr>
              <a:t>Differentiate between a “fact” and an “explanation” as used in the discussion of democratic peace. Answer in 50-80 words</a:t>
            </a:r>
          </a:p>
          <a:p>
            <a:pPr marL="0" indent="0">
              <a:buNone/>
            </a:pPr>
            <a:endParaRPr lang="en-US" dirty="0"/>
          </a:p>
          <a:p>
            <a:pPr marL="0" indent="0">
              <a:buNone/>
            </a:pPr>
            <a:r>
              <a:rPr lang="en-US" dirty="0"/>
              <a:t>[Notes :</a:t>
            </a:r>
          </a:p>
          <a:p>
            <a:pPr>
              <a:buFontTx/>
              <a:buChar char="-"/>
            </a:pPr>
            <a:r>
              <a:rPr lang="en-US" dirty="0"/>
              <a:t>Add a box where to type the answers into</a:t>
            </a:r>
          </a:p>
          <a:p>
            <a:pPr>
              <a:buFontTx/>
              <a:buChar char="-"/>
            </a:pPr>
            <a:r>
              <a:rPr lang="en-US" dirty="0"/>
              <a:t>Maximum limit of text – 100 words</a:t>
            </a:r>
          </a:p>
          <a:p>
            <a:pPr marL="0" indent="0">
              <a:buNone/>
            </a:pPr>
            <a:r>
              <a:rPr lang="en-US" dirty="0"/>
              <a:t>minimum – 60 seconds; maximum – 120 seconds]</a:t>
            </a:r>
          </a:p>
        </p:txBody>
      </p:sp>
    </p:spTree>
    <p:extLst>
      <p:ext uri="{BB962C8B-B14F-4D97-AF65-F5344CB8AC3E}">
        <p14:creationId xmlns:p14="http://schemas.microsoft.com/office/powerpoint/2010/main" val="1065927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15C6D-5730-2230-C229-84FAD5BAA41B}"/>
              </a:ext>
            </a:extLst>
          </p:cNvPr>
          <p:cNvSpPr>
            <a:spLocks noGrp="1"/>
          </p:cNvSpPr>
          <p:nvPr>
            <p:ph type="title"/>
          </p:nvPr>
        </p:nvSpPr>
        <p:spPr/>
        <p:txBody>
          <a:bodyPr/>
          <a:lstStyle/>
          <a:p>
            <a:r>
              <a:rPr lang="en-US" dirty="0"/>
              <a:t>QUESTION - 5</a:t>
            </a:r>
          </a:p>
        </p:txBody>
      </p:sp>
      <p:sp>
        <p:nvSpPr>
          <p:cNvPr id="3" name="Content Placeholder 2">
            <a:extLst>
              <a:ext uri="{FF2B5EF4-FFF2-40B4-BE49-F238E27FC236}">
                <a16:creationId xmlns:a16="http://schemas.microsoft.com/office/drawing/2014/main" id="{0A2A62B2-7FA1-0A28-BAC9-915206A9E6AA}"/>
              </a:ext>
            </a:extLst>
          </p:cNvPr>
          <p:cNvSpPr>
            <a:spLocks noGrp="1"/>
          </p:cNvSpPr>
          <p:nvPr>
            <p:ph idx="1"/>
          </p:nvPr>
        </p:nvSpPr>
        <p:spPr/>
        <p:txBody>
          <a:bodyPr>
            <a:normAutofit fontScale="92500" lnSpcReduction="20000"/>
          </a:bodyPr>
          <a:lstStyle/>
          <a:p>
            <a:pPr marL="0" indent="0" algn="l">
              <a:buNone/>
            </a:pPr>
            <a:r>
              <a:rPr lang="en-IN" b="1" i="0" dirty="0">
                <a:effectLst/>
                <a:latin typeface="-apple-system"/>
              </a:rPr>
              <a:t>Justify whether the author is more supportive or more critical of the democratic peace. Answer in 80-120 words.</a:t>
            </a:r>
            <a:br>
              <a:rPr lang="en-IN" dirty="0"/>
            </a:br>
            <a:endParaRPr lang="en-IN" dirty="0"/>
          </a:p>
          <a:p>
            <a:pPr marL="0" indent="0" algn="l">
              <a:buNone/>
            </a:pPr>
            <a:endParaRPr lang="en-IN" dirty="0"/>
          </a:p>
          <a:p>
            <a:pPr marL="0" indent="0" algn="l">
              <a:buNone/>
            </a:pPr>
            <a:endParaRPr lang="en-IN" dirty="0"/>
          </a:p>
          <a:p>
            <a:pPr marL="0" indent="0">
              <a:buNone/>
            </a:pPr>
            <a:r>
              <a:rPr lang="en-US" dirty="0"/>
              <a:t>[Notes :</a:t>
            </a:r>
          </a:p>
          <a:p>
            <a:pPr>
              <a:buFontTx/>
              <a:buChar char="-"/>
            </a:pPr>
            <a:r>
              <a:rPr lang="en-US" dirty="0"/>
              <a:t>Add a box where to type the answers into</a:t>
            </a:r>
          </a:p>
          <a:p>
            <a:pPr>
              <a:buFontTx/>
              <a:buChar char="-"/>
            </a:pPr>
            <a:r>
              <a:rPr lang="en-US" dirty="0"/>
              <a:t>Maximum limit of text – 200 words</a:t>
            </a:r>
          </a:p>
          <a:p>
            <a:pPr marL="0" indent="0" algn="l">
              <a:buNone/>
            </a:pPr>
            <a:endParaRPr lang="en-IN" dirty="0"/>
          </a:p>
          <a:p>
            <a:pPr marL="0" indent="0" algn="l">
              <a:buNone/>
            </a:pPr>
            <a:endParaRPr lang="en-IN" dirty="0"/>
          </a:p>
          <a:p>
            <a:pPr marL="0" indent="0" algn="l">
              <a:buNone/>
            </a:pPr>
            <a:r>
              <a:rPr lang="en-US" dirty="0"/>
              <a:t>Minimum time – 120 s; maximum time – 240 s</a:t>
            </a:r>
          </a:p>
        </p:txBody>
      </p:sp>
    </p:spTree>
    <p:extLst>
      <p:ext uri="{BB962C8B-B14F-4D97-AF65-F5344CB8AC3E}">
        <p14:creationId xmlns:p14="http://schemas.microsoft.com/office/powerpoint/2010/main" val="4168293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19EB4-43C5-D546-0BC1-A3356C25280A}"/>
              </a:ext>
            </a:extLst>
          </p:cNvPr>
          <p:cNvSpPr>
            <a:spLocks noGrp="1"/>
          </p:cNvSpPr>
          <p:nvPr>
            <p:ph type="title"/>
          </p:nvPr>
        </p:nvSpPr>
        <p:spPr/>
        <p:txBody>
          <a:bodyPr/>
          <a:lstStyle/>
          <a:p>
            <a:r>
              <a:rPr lang="en-US" dirty="0"/>
              <a:t>QUESTION - 6</a:t>
            </a:r>
          </a:p>
        </p:txBody>
      </p:sp>
      <p:sp>
        <p:nvSpPr>
          <p:cNvPr id="3" name="Content Placeholder 2">
            <a:extLst>
              <a:ext uri="{FF2B5EF4-FFF2-40B4-BE49-F238E27FC236}">
                <a16:creationId xmlns:a16="http://schemas.microsoft.com/office/drawing/2014/main" id="{A5527595-B89A-029B-AC2F-872E32788E4A}"/>
              </a:ext>
            </a:extLst>
          </p:cNvPr>
          <p:cNvSpPr>
            <a:spLocks noGrp="1"/>
          </p:cNvSpPr>
          <p:nvPr>
            <p:ph idx="1"/>
          </p:nvPr>
        </p:nvSpPr>
        <p:spPr/>
        <p:txBody>
          <a:bodyPr>
            <a:normAutofit lnSpcReduction="10000"/>
          </a:bodyPr>
          <a:lstStyle/>
          <a:p>
            <a:pPr marL="0" indent="0" algn="l">
              <a:buNone/>
            </a:pPr>
            <a:r>
              <a:rPr lang="en-IN" b="1" i="0" dirty="0">
                <a:effectLst/>
                <a:latin typeface="-apple-system"/>
              </a:rPr>
              <a:t>Apply the text’s reasoning to this situation: Two countries both hold elections, but one limits press freedom. Using the text, explain whether their peaceful relationship clearly</a:t>
            </a:r>
            <a:br>
              <a:rPr lang="en-IN" b="1" i="0" dirty="0">
                <a:effectLst/>
                <a:latin typeface="-apple-system"/>
              </a:rPr>
            </a:br>
            <a:r>
              <a:rPr lang="en-IN" b="1" i="0" dirty="0">
                <a:effectLst/>
                <a:latin typeface="-apple-system"/>
              </a:rPr>
              <a:t>supports the democratic peace thesis. </a:t>
            </a:r>
            <a:r>
              <a:rPr lang="en-IN" b="1" dirty="0">
                <a:latin typeface="-apple-system"/>
              </a:rPr>
              <a:t>Answer in 30-60 words. </a:t>
            </a:r>
          </a:p>
          <a:p>
            <a:pPr marL="0" indent="0" algn="l">
              <a:buNone/>
            </a:pPr>
            <a:endParaRPr lang="en-IN" b="1" dirty="0">
              <a:latin typeface="-apple-system"/>
            </a:endParaRPr>
          </a:p>
          <a:p>
            <a:pPr marL="0" indent="0">
              <a:buNone/>
            </a:pPr>
            <a:r>
              <a:rPr lang="en-US" dirty="0"/>
              <a:t>[Notes :</a:t>
            </a:r>
          </a:p>
          <a:p>
            <a:pPr>
              <a:buFontTx/>
              <a:buChar char="-"/>
            </a:pPr>
            <a:r>
              <a:rPr lang="en-US" dirty="0"/>
              <a:t>Add a box where to type the answers into</a:t>
            </a:r>
          </a:p>
          <a:p>
            <a:pPr>
              <a:buFontTx/>
              <a:buChar char="-"/>
            </a:pPr>
            <a:r>
              <a:rPr lang="en-US" dirty="0"/>
              <a:t>Maximum limit of text – 100 words</a:t>
            </a:r>
          </a:p>
          <a:p>
            <a:pPr marL="0" indent="0" algn="l">
              <a:buNone/>
            </a:pPr>
            <a:br>
              <a:rPr lang="en-IN" b="1" dirty="0"/>
            </a:br>
            <a:r>
              <a:rPr lang="en-IN" b="1" dirty="0"/>
              <a:t>minimum time – 60 s; maximum time – 90 s</a:t>
            </a:r>
            <a:endParaRPr lang="en-US" b="1" dirty="0"/>
          </a:p>
        </p:txBody>
      </p:sp>
    </p:spTree>
    <p:extLst>
      <p:ext uri="{BB962C8B-B14F-4D97-AF65-F5344CB8AC3E}">
        <p14:creationId xmlns:p14="http://schemas.microsoft.com/office/powerpoint/2010/main" val="2913796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24954-C5A4-1A79-7438-D68A7FFBB7E7}"/>
              </a:ext>
            </a:extLst>
          </p:cNvPr>
          <p:cNvSpPr>
            <a:spLocks noGrp="1"/>
          </p:cNvSpPr>
          <p:nvPr>
            <p:ph type="ctrTitle"/>
          </p:nvPr>
        </p:nvSpPr>
        <p:spPr/>
        <p:txBody>
          <a:bodyPr/>
          <a:lstStyle/>
          <a:p>
            <a:r>
              <a:rPr lang="en-US" dirty="0"/>
              <a:t>TEXT 2</a:t>
            </a:r>
          </a:p>
        </p:txBody>
      </p:sp>
      <p:sp>
        <p:nvSpPr>
          <p:cNvPr id="3" name="Subtitle 2">
            <a:extLst>
              <a:ext uri="{FF2B5EF4-FFF2-40B4-BE49-F238E27FC236}">
                <a16:creationId xmlns:a16="http://schemas.microsoft.com/office/drawing/2014/main" id="{F534CF62-A4F2-30EB-DE52-00FB08AB5372}"/>
              </a:ext>
            </a:extLst>
          </p:cNvPr>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2019726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126D4-1F18-2D85-C5B4-3743689BF797}"/>
              </a:ext>
            </a:extLst>
          </p:cNvPr>
          <p:cNvSpPr>
            <a:spLocks noGrp="1"/>
          </p:cNvSpPr>
          <p:nvPr>
            <p:ph type="title"/>
          </p:nvPr>
        </p:nvSpPr>
        <p:spPr/>
        <p:txBody>
          <a:bodyPr/>
          <a:lstStyle/>
          <a:p>
            <a:r>
              <a:rPr lang="en-US" dirty="0"/>
              <a:t>QUESTION - 1</a:t>
            </a:r>
          </a:p>
        </p:txBody>
      </p:sp>
      <p:sp>
        <p:nvSpPr>
          <p:cNvPr id="3" name="Content Placeholder 2">
            <a:extLst>
              <a:ext uri="{FF2B5EF4-FFF2-40B4-BE49-F238E27FC236}">
                <a16:creationId xmlns:a16="http://schemas.microsoft.com/office/drawing/2014/main" id="{941AA9D0-8808-2114-5D3C-4D0D4E98CB2C}"/>
              </a:ext>
            </a:extLst>
          </p:cNvPr>
          <p:cNvSpPr>
            <a:spLocks noGrp="1"/>
          </p:cNvSpPr>
          <p:nvPr>
            <p:ph idx="1"/>
          </p:nvPr>
        </p:nvSpPr>
        <p:spPr/>
        <p:txBody>
          <a:bodyPr/>
          <a:lstStyle/>
          <a:p>
            <a:pPr marL="0" indent="0">
              <a:buNone/>
            </a:pPr>
            <a:r>
              <a:rPr lang="en-IN" b="0" i="0" u="none" strike="noStrike" dirty="0">
                <a:effectLst/>
                <a:latin typeface="-apple-system"/>
              </a:rPr>
              <a:t>Which term refers to cooperative </a:t>
            </a:r>
            <a:r>
              <a:rPr lang="en-IN" b="0" i="0" u="none" strike="noStrike" dirty="0" err="1">
                <a:effectLst/>
                <a:latin typeface="-apple-system"/>
              </a:rPr>
              <a:t>behavior</a:t>
            </a:r>
            <a:r>
              <a:rPr lang="en-IN" b="0" i="0" u="none" strike="noStrike" dirty="0">
                <a:effectLst/>
                <a:latin typeface="-apple-system"/>
              </a:rPr>
              <a:t> being </a:t>
            </a:r>
            <a:r>
              <a:rPr lang="en-IN" b="0" i="0" u="none" strike="noStrike" dirty="0" err="1">
                <a:effectLst/>
                <a:latin typeface="-apple-system"/>
              </a:rPr>
              <a:t>favored</a:t>
            </a:r>
            <a:r>
              <a:rPr lang="en-IN" b="0" i="0" u="none" strike="noStrike" dirty="0">
                <a:effectLst/>
                <a:latin typeface="-apple-system"/>
              </a:rPr>
              <a:t> when it is directed toward relatives?</a:t>
            </a:r>
            <a:br>
              <a:rPr lang="en-IN" dirty="0"/>
            </a:br>
            <a:r>
              <a:rPr lang="en-IN" b="0" i="0" u="none" strike="noStrike" dirty="0">
                <a:effectLst/>
                <a:latin typeface="-apple-system"/>
              </a:rPr>
              <a:t>A) Group selection</a:t>
            </a:r>
            <a:br>
              <a:rPr lang="en-IN" dirty="0"/>
            </a:br>
            <a:r>
              <a:rPr lang="en-IN" b="0" i="0" u="none" strike="noStrike" dirty="0">
                <a:effectLst/>
                <a:latin typeface="-apple-system"/>
              </a:rPr>
              <a:t>B) Kin selection</a:t>
            </a:r>
            <a:br>
              <a:rPr lang="en-IN" dirty="0"/>
            </a:br>
            <a:r>
              <a:rPr lang="en-IN" b="0" i="0" u="none" strike="noStrike" dirty="0">
                <a:effectLst/>
                <a:latin typeface="-apple-system"/>
              </a:rPr>
              <a:t>C) Frequency dependence</a:t>
            </a:r>
            <a:br>
              <a:rPr lang="en-IN" dirty="0"/>
            </a:br>
            <a:r>
              <a:rPr lang="en-IN" b="0" i="0" u="none" strike="noStrike" dirty="0">
                <a:effectLst/>
                <a:latin typeface="-apple-system"/>
              </a:rPr>
              <a:t>D) Dominance</a:t>
            </a:r>
          </a:p>
          <a:p>
            <a:pPr marL="0" indent="0">
              <a:buNone/>
            </a:pPr>
            <a:endParaRPr lang="en-IN" dirty="0">
              <a:latin typeface="-apple-system"/>
            </a:endParaRPr>
          </a:p>
          <a:p>
            <a:pPr marL="0" indent="0">
              <a:buNone/>
            </a:pPr>
            <a:r>
              <a:rPr lang="en-IN" dirty="0">
                <a:latin typeface="-apple-system"/>
              </a:rPr>
              <a:t>Minimum - 20 seconds; maximum – 40 seconds</a:t>
            </a:r>
            <a:endParaRPr lang="en-IN" b="1" dirty="0"/>
          </a:p>
          <a:p>
            <a:pPr marL="0" indent="0">
              <a:buNone/>
            </a:pPr>
            <a:endParaRPr lang="en-US" dirty="0"/>
          </a:p>
        </p:txBody>
      </p:sp>
    </p:spTree>
    <p:extLst>
      <p:ext uri="{BB962C8B-B14F-4D97-AF65-F5344CB8AC3E}">
        <p14:creationId xmlns:p14="http://schemas.microsoft.com/office/powerpoint/2010/main" val="257574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6313E-7425-D6D2-1B81-5D2B963F0A58}"/>
              </a:ext>
            </a:extLst>
          </p:cNvPr>
          <p:cNvSpPr>
            <a:spLocks noGrp="1"/>
          </p:cNvSpPr>
          <p:nvPr>
            <p:ph type="title"/>
          </p:nvPr>
        </p:nvSpPr>
        <p:spPr/>
        <p:txBody>
          <a:bodyPr/>
          <a:lstStyle/>
          <a:p>
            <a:r>
              <a:rPr lang="en-US" dirty="0"/>
              <a:t>QUESTION - 2</a:t>
            </a:r>
          </a:p>
        </p:txBody>
      </p:sp>
      <p:sp>
        <p:nvSpPr>
          <p:cNvPr id="3" name="Content Placeholder 2">
            <a:extLst>
              <a:ext uri="{FF2B5EF4-FFF2-40B4-BE49-F238E27FC236}">
                <a16:creationId xmlns:a16="http://schemas.microsoft.com/office/drawing/2014/main" id="{4751EC0F-9500-9DA5-3BBD-228A0D318647}"/>
              </a:ext>
            </a:extLst>
          </p:cNvPr>
          <p:cNvSpPr>
            <a:spLocks noGrp="1"/>
          </p:cNvSpPr>
          <p:nvPr>
            <p:ph idx="1"/>
          </p:nvPr>
        </p:nvSpPr>
        <p:spPr/>
        <p:txBody>
          <a:bodyPr/>
          <a:lstStyle/>
          <a:p>
            <a:pPr marL="0" indent="0">
              <a:buNone/>
            </a:pPr>
            <a:r>
              <a:rPr lang="en-IN" b="0" i="0" u="none" strike="noStrike" dirty="0">
                <a:effectLst/>
                <a:latin typeface="-apple-system"/>
              </a:rPr>
              <a:t>According to the text, how is cooperation defined?</a:t>
            </a:r>
            <a:br>
              <a:rPr lang="en-IN" dirty="0"/>
            </a:br>
            <a:r>
              <a:rPr lang="en-IN" b="0" i="0" u="none" strike="noStrike" dirty="0">
                <a:effectLst/>
                <a:latin typeface="-apple-system"/>
              </a:rPr>
              <a:t>A) Any act that increases group survival</a:t>
            </a:r>
            <a:br>
              <a:rPr lang="en-IN" dirty="0"/>
            </a:br>
            <a:r>
              <a:rPr lang="en-IN" b="0" i="0" u="none" strike="noStrike" dirty="0">
                <a:effectLst/>
                <a:latin typeface="-apple-system"/>
              </a:rPr>
              <a:t>B) Any act that benefits the strongest individuals</a:t>
            </a:r>
            <a:br>
              <a:rPr lang="en-IN" dirty="0"/>
            </a:br>
            <a:r>
              <a:rPr lang="en-IN" b="0" i="0" u="none" strike="noStrike" dirty="0">
                <a:effectLst/>
                <a:latin typeface="-apple-system"/>
              </a:rPr>
              <a:t>C) Any act that increases the fitness of others</a:t>
            </a:r>
            <a:br>
              <a:rPr lang="en-IN" dirty="0"/>
            </a:br>
            <a:r>
              <a:rPr lang="en-IN" b="0" i="0" u="none" strike="noStrike" dirty="0">
                <a:effectLst/>
                <a:latin typeface="-apple-system"/>
              </a:rPr>
              <a:t>D) Any act that occurs within families only</a:t>
            </a:r>
          </a:p>
          <a:p>
            <a:pPr marL="0" indent="0">
              <a:buNone/>
            </a:pPr>
            <a:endParaRPr lang="en-IN" dirty="0">
              <a:latin typeface="-apple-system"/>
            </a:endParaRPr>
          </a:p>
          <a:p>
            <a:pPr marL="0" indent="0">
              <a:buNone/>
            </a:pPr>
            <a:r>
              <a:rPr lang="en-IN" dirty="0">
                <a:latin typeface="-apple-system"/>
              </a:rPr>
              <a:t>Minimum - 20 seconds; maximum – 40 seconds</a:t>
            </a:r>
            <a:endParaRPr lang="en-IN" b="1" dirty="0"/>
          </a:p>
          <a:p>
            <a:pPr marL="0" indent="0">
              <a:buNone/>
            </a:pPr>
            <a:endParaRPr lang="en-US" dirty="0"/>
          </a:p>
        </p:txBody>
      </p:sp>
    </p:spTree>
    <p:extLst>
      <p:ext uri="{BB962C8B-B14F-4D97-AF65-F5344CB8AC3E}">
        <p14:creationId xmlns:p14="http://schemas.microsoft.com/office/powerpoint/2010/main" val="1819832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09C25-A07C-1194-175F-13303C479C0A}"/>
              </a:ext>
            </a:extLst>
          </p:cNvPr>
          <p:cNvSpPr>
            <a:spLocks noGrp="1"/>
          </p:cNvSpPr>
          <p:nvPr>
            <p:ph type="title"/>
          </p:nvPr>
        </p:nvSpPr>
        <p:spPr/>
        <p:txBody>
          <a:bodyPr/>
          <a:lstStyle/>
          <a:p>
            <a:r>
              <a:rPr lang="en-US" dirty="0"/>
              <a:t>QUESTION - 3</a:t>
            </a:r>
          </a:p>
        </p:txBody>
      </p:sp>
      <p:sp>
        <p:nvSpPr>
          <p:cNvPr id="3" name="Content Placeholder 2">
            <a:extLst>
              <a:ext uri="{FF2B5EF4-FFF2-40B4-BE49-F238E27FC236}">
                <a16:creationId xmlns:a16="http://schemas.microsoft.com/office/drawing/2014/main" id="{8DF3E74B-267C-4F34-CC34-DB9BA027929A}"/>
              </a:ext>
            </a:extLst>
          </p:cNvPr>
          <p:cNvSpPr>
            <a:spLocks noGrp="1"/>
          </p:cNvSpPr>
          <p:nvPr>
            <p:ph idx="1"/>
          </p:nvPr>
        </p:nvSpPr>
        <p:spPr/>
        <p:txBody>
          <a:bodyPr>
            <a:normAutofit fontScale="92500" lnSpcReduction="10000"/>
          </a:bodyPr>
          <a:lstStyle/>
          <a:p>
            <a:pPr marL="0" indent="0" algn="l">
              <a:buNone/>
            </a:pPr>
            <a:r>
              <a:rPr lang="en-IN" b="0" i="0" dirty="0">
                <a:effectLst/>
                <a:latin typeface="-apple-system"/>
              </a:rPr>
              <a:t>Which idea is common to all explanations for the evolution of altruism discussed in the text?</a:t>
            </a:r>
            <a:br>
              <a:rPr lang="en-IN" b="0" i="0" dirty="0">
                <a:effectLst/>
                <a:latin typeface="-apple-system"/>
              </a:rPr>
            </a:br>
            <a:r>
              <a:rPr lang="en-IN" b="0" i="0" dirty="0">
                <a:effectLst/>
                <a:latin typeface="-apple-system"/>
              </a:rPr>
              <a:t>A) Random interaction between individuals</a:t>
            </a:r>
            <a:br>
              <a:rPr lang="en-IN" b="0" i="0" dirty="0">
                <a:effectLst/>
                <a:latin typeface="-apple-system"/>
              </a:rPr>
            </a:br>
            <a:r>
              <a:rPr lang="en-IN" b="0" i="0" dirty="0">
                <a:effectLst/>
                <a:latin typeface="-apple-system"/>
              </a:rPr>
              <a:t>B) Removal of individual fitness costs</a:t>
            </a:r>
            <a:br>
              <a:rPr lang="en-IN" b="0" i="0" dirty="0">
                <a:effectLst/>
                <a:latin typeface="-apple-system"/>
              </a:rPr>
            </a:br>
            <a:r>
              <a:rPr lang="en-IN" b="0" i="0" dirty="0">
                <a:effectLst/>
                <a:latin typeface="-apple-system"/>
              </a:rPr>
              <a:t>C) Assortment of similar individuals</a:t>
            </a:r>
            <a:br>
              <a:rPr lang="en-IN" b="0" i="0" dirty="0">
                <a:effectLst/>
                <a:latin typeface="-apple-system"/>
              </a:rPr>
            </a:br>
            <a:r>
              <a:rPr lang="en-IN" b="0" i="0" dirty="0">
                <a:effectLst/>
                <a:latin typeface="-apple-system"/>
              </a:rPr>
              <a:t>D) Equal growth rates for all strains</a:t>
            </a:r>
          </a:p>
          <a:p>
            <a:pPr marL="0" indent="0" algn="l">
              <a:buNone/>
            </a:pPr>
            <a:endParaRPr lang="en-IN" dirty="0">
              <a:latin typeface="-apple-system"/>
            </a:endParaRPr>
          </a:p>
          <a:p>
            <a:pPr marL="0" indent="0">
              <a:buNone/>
            </a:pPr>
            <a:r>
              <a:rPr lang="en-IN" dirty="0">
                <a:latin typeface="-apple-system"/>
              </a:rPr>
              <a:t>Minimum - 20 seconds; maximum – 40 seconds</a:t>
            </a:r>
            <a:endParaRPr lang="en-IN" b="1" dirty="0"/>
          </a:p>
          <a:p>
            <a:pPr marL="0" indent="0" algn="l">
              <a:buNone/>
            </a:pPr>
            <a:endParaRPr lang="en-IN" b="0" i="0" dirty="0">
              <a:effectLst/>
              <a:latin typeface="-apple-system"/>
            </a:endParaRPr>
          </a:p>
          <a:p>
            <a:pPr marL="0" indent="0">
              <a:buNone/>
            </a:pPr>
            <a:br>
              <a:rPr lang="en-IN" dirty="0"/>
            </a:br>
            <a:endParaRPr lang="en-US" dirty="0"/>
          </a:p>
        </p:txBody>
      </p:sp>
    </p:spTree>
    <p:extLst>
      <p:ext uri="{BB962C8B-B14F-4D97-AF65-F5344CB8AC3E}">
        <p14:creationId xmlns:p14="http://schemas.microsoft.com/office/powerpoint/2010/main" val="1327165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1193D-8D95-377D-1F5B-66EE80FDB964}"/>
              </a:ext>
            </a:extLst>
          </p:cNvPr>
          <p:cNvSpPr>
            <a:spLocks noGrp="1"/>
          </p:cNvSpPr>
          <p:nvPr>
            <p:ph type="title"/>
          </p:nvPr>
        </p:nvSpPr>
        <p:spPr/>
        <p:txBody>
          <a:bodyPr/>
          <a:lstStyle/>
          <a:p>
            <a:r>
              <a:rPr lang="en-US" dirty="0"/>
              <a:t>QUESTION - 4</a:t>
            </a:r>
          </a:p>
        </p:txBody>
      </p:sp>
      <p:sp>
        <p:nvSpPr>
          <p:cNvPr id="3" name="Content Placeholder 2">
            <a:extLst>
              <a:ext uri="{FF2B5EF4-FFF2-40B4-BE49-F238E27FC236}">
                <a16:creationId xmlns:a16="http://schemas.microsoft.com/office/drawing/2014/main" id="{72059AB2-3EDA-E96C-9F4C-B67D1DBE3503}"/>
              </a:ext>
            </a:extLst>
          </p:cNvPr>
          <p:cNvSpPr>
            <a:spLocks noGrp="1"/>
          </p:cNvSpPr>
          <p:nvPr>
            <p:ph idx="1"/>
          </p:nvPr>
        </p:nvSpPr>
        <p:spPr/>
        <p:txBody>
          <a:bodyPr>
            <a:normAutofit fontScale="92500" lnSpcReduction="10000"/>
          </a:bodyPr>
          <a:lstStyle/>
          <a:p>
            <a:pPr marL="0" indent="0">
              <a:buNone/>
            </a:pPr>
            <a:r>
              <a:rPr lang="en-IN" b="0" i="0" u="none" strike="noStrike" dirty="0">
                <a:effectLst/>
                <a:latin typeface="-apple-system"/>
              </a:rPr>
              <a:t>Analyse how assortment changes the typical interaction partners of cooperators and defectors.</a:t>
            </a:r>
            <a:br>
              <a:rPr lang="en-IN" dirty="0"/>
            </a:br>
            <a:r>
              <a:rPr lang="en-IN" b="0" i="0" u="none" strike="noStrike" dirty="0">
                <a:effectLst/>
                <a:latin typeface="-apple-system"/>
              </a:rPr>
              <a:t>(50–80 words)</a:t>
            </a:r>
          </a:p>
          <a:p>
            <a:pPr marL="0" indent="0">
              <a:buNone/>
            </a:pPr>
            <a:endParaRPr lang="en-US" dirty="0"/>
          </a:p>
          <a:p>
            <a:pPr marL="0" indent="0">
              <a:buNone/>
            </a:pPr>
            <a:endParaRPr lang="en-US" dirty="0"/>
          </a:p>
          <a:p>
            <a:pPr marL="0" indent="0">
              <a:buNone/>
            </a:pPr>
            <a:r>
              <a:rPr lang="en-US" dirty="0"/>
              <a:t>[Notes :</a:t>
            </a:r>
          </a:p>
          <a:p>
            <a:pPr>
              <a:buFontTx/>
              <a:buChar char="-"/>
            </a:pPr>
            <a:r>
              <a:rPr lang="en-US" dirty="0"/>
              <a:t>Add a box where to type the answers into</a:t>
            </a:r>
          </a:p>
          <a:p>
            <a:pPr>
              <a:buFontTx/>
              <a:buChar char="-"/>
            </a:pPr>
            <a:r>
              <a:rPr lang="en-US" dirty="0"/>
              <a:t>Maximum limit of text – 100 words</a:t>
            </a:r>
          </a:p>
          <a:p>
            <a:pPr marL="0" indent="0">
              <a:buNone/>
            </a:pPr>
            <a:endParaRPr lang="en-US" dirty="0"/>
          </a:p>
          <a:p>
            <a:pPr marL="0" indent="0">
              <a:buNone/>
            </a:pPr>
            <a:r>
              <a:rPr lang="en-US" dirty="0"/>
              <a:t>Minimum time – 60 s; maximum time – 120 s</a:t>
            </a:r>
          </a:p>
        </p:txBody>
      </p:sp>
    </p:spTree>
    <p:extLst>
      <p:ext uri="{BB962C8B-B14F-4D97-AF65-F5344CB8AC3E}">
        <p14:creationId xmlns:p14="http://schemas.microsoft.com/office/powerpoint/2010/main" val="2281483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0B229-B8D4-1F3B-4B8A-482EF8BFD2B3}"/>
              </a:ext>
            </a:extLst>
          </p:cNvPr>
          <p:cNvSpPr>
            <a:spLocks noGrp="1"/>
          </p:cNvSpPr>
          <p:nvPr>
            <p:ph type="title"/>
          </p:nvPr>
        </p:nvSpPr>
        <p:spPr/>
        <p:txBody>
          <a:bodyPr/>
          <a:lstStyle/>
          <a:p>
            <a:r>
              <a:rPr lang="en-US" dirty="0"/>
              <a:t>QUESTION - 5</a:t>
            </a:r>
          </a:p>
        </p:txBody>
      </p:sp>
      <p:sp>
        <p:nvSpPr>
          <p:cNvPr id="3" name="Content Placeholder 2">
            <a:extLst>
              <a:ext uri="{FF2B5EF4-FFF2-40B4-BE49-F238E27FC236}">
                <a16:creationId xmlns:a16="http://schemas.microsoft.com/office/drawing/2014/main" id="{87FCC21F-2596-21EA-9174-1ADCCE850FED}"/>
              </a:ext>
            </a:extLst>
          </p:cNvPr>
          <p:cNvSpPr>
            <a:spLocks noGrp="1"/>
          </p:cNvSpPr>
          <p:nvPr>
            <p:ph idx="1"/>
          </p:nvPr>
        </p:nvSpPr>
        <p:spPr/>
        <p:txBody>
          <a:bodyPr>
            <a:normAutofit fontScale="92500" lnSpcReduction="20000"/>
          </a:bodyPr>
          <a:lstStyle/>
          <a:p>
            <a:pPr marL="0" indent="0">
              <a:buNone/>
            </a:pPr>
            <a:r>
              <a:rPr lang="en-IN" b="0" i="0" u="none" strike="noStrike" dirty="0">
                <a:effectLst/>
                <a:latin typeface="-apple-system"/>
              </a:rPr>
              <a:t>Evaluate whether ignoring stochastic (random) effects is appropriate for understanding the</a:t>
            </a:r>
            <a:br>
              <a:rPr lang="en-IN" dirty="0"/>
            </a:br>
            <a:r>
              <a:rPr lang="en-IN" b="0" i="0" u="none" strike="noStrike" dirty="0">
                <a:effectLst/>
                <a:latin typeface="-apple-system"/>
              </a:rPr>
              <a:t>mechanisms described in the text.</a:t>
            </a:r>
            <a:br>
              <a:rPr lang="en-IN" dirty="0"/>
            </a:br>
            <a:r>
              <a:rPr lang="en-IN" b="0" i="0" u="none" strike="noStrike" dirty="0">
                <a:effectLst/>
                <a:latin typeface="-apple-system"/>
              </a:rPr>
              <a:t>(80–120 words)</a:t>
            </a:r>
          </a:p>
          <a:p>
            <a:pPr marL="0" indent="0">
              <a:buNone/>
            </a:pPr>
            <a:endParaRPr lang="en-IN" dirty="0">
              <a:latin typeface="-apple-system"/>
            </a:endParaRPr>
          </a:p>
          <a:p>
            <a:pPr marL="0" indent="0">
              <a:buNone/>
            </a:pPr>
            <a:endParaRPr lang="en-IN" dirty="0">
              <a:latin typeface="-apple-system"/>
            </a:endParaRPr>
          </a:p>
          <a:p>
            <a:pPr marL="0" indent="0">
              <a:buNone/>
            </a:pPr>
            <a:r>
              <a:rPr lang="en-US" dirty="0"/>
              <a:t>[Notes :</a:t>
            </a:r>
          </a:p>
          <a:p>
            <a:pPr>
              <a:buFontTx/>
              <a:buChar char="-"/>
            </a:pPr>
            <a:r>
              <a:rPr lang="en-US" dirty="0"/>
              <a:t>Add a box where to type the answers into</a:t>
            </a:r>
          </a:p>
          <a:p>
            <a:pPr>
              <a:buFontTx/>
              <a:buChar char="-"/>
            </a:pPr>
            <a:r>
              <a:rPr lang="en-US" dirty="0"/>
              <a:t>Maximum limit of text – 200 words</a:t>
            </a:r>
          </a:p>
          <a:p>
            <a:pPr marL="0" indent="0">
              <a:buNone/>
            </a:pPr>
            <a:endParaRPr lang="en-IN" dirty="0">
              <a:latin typeface="-apple-system"/>
            </a:endParaRPr>
          </a:p>
          <a:p>
            <a:pPr marL="0" indent="0">
              <a:buNone/>
            </a:pPr>
            <a:r>
              <a:rPr lang="en-IN" dirty="0">
                <a:latin typeface="-apple-system"/>
              </a:rPr>
              <a:t>Minimum time – 120 s ; maximum time – 240 s</a:t>
            </a:r>
            <a:endParaRPr lang="en-US" dirty="0"/>
          </a:p>
        </p:txBody>
      </p:sp>
    </p:spTree>
    <p:extLst>
      <p:ext uri="{BB962C8B-B14F-4D97-AF65-F5344CB8AC3E}">
        <p14:creationId xmlns:p14="http://schemas.microsoft.com/office/powerpoint/2010/main" val="1692134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8F14F-7C23-C1BE-7DA7-DC40DDE169D9}"/>
              </a:ext>
            </a:extLst>
          </p:cNvPr>
          <p:cNvSpPr>
            <a:spLocks noGrp="1"/>
          </p:cNvSpPr>
          <p:nvPr>
            <p:ph type="title"/>
          </p:nvPr>
        </p:nvSpPr>
        <p:spPr/>
        <p:txBody>
          <a:bodyPr/>
          <a:lstStyle/>
          <a:p>
            <a:r>
              <a:rPr lang="en-US" dirty="0"/>
              <a:t>QUESTION – 6</a:t>
            </a:r>
          </a:p>
        </p:txBody>
      </p:sp>
      <p:sp>
        <p:nvSpPr>
          <p:cNvPr id="3" name="Content Placeholder 2">
            <a:extLst>
              <a:ext uri="{FF2B5EF4-FFF2-40B4-BE49-F238E27FC236}">
                <a16:creationId xmlns:a16="http://schemas.microsoft.com/office/drawing/2014/main" id="{F457FFBB-FD9E-B4CB-C20D-FFE95DEC286D}"/>
              </a:ext>
            </a:extLst>
          </p:cNvPr>
          <p:cNvSpPr>
            <a:spLocks noGrp="1"/>
          </p:cNvSpPr>
          <p:nvPr>
            <p:ph idx="1"/>
          </p:nvPr>
        </p:nvSpPr>
        <p:spPr/>
        <p:txBody>
          <a:bodyPr>
            <a:normAutofit fontScale="92500" lnSpcReduction="20000"/>
          </a:bodyPr>
          <a:lstStyle/>
          <a:p>
            <a:pPr marL="0" indent="0">
              <a:buNone/>
            </a:pPr>
            <a:r>
              <a:rPr lang="en-IN" b="0" i="0" u="none" strike="noStrike" dirty="0">
                <a:effectLst/>
                <a:latin typeface="-apple-system"/>
              </a:rPr>
              <a:t>Apply the idea of dominance. Suppose two microbial strains are grown in a </a:t>
            </a:r>
            <a:r>
              <a:rPr lang="en-IN" b="0" i="0" u="none" strike="noStrike" dirty="0" err="1">
                <a:effectLst/>
                <a:latin typeface="-apple-system"/>
              </a:rPr>
              <a:t>turbidostat</a:t>
            </a:r>
            <a:r>
              <a:rPr lang="en-IN" b="0" i="0" u="none" strike="noStrike" dirty="0">
                <a:effectLst/>
                <a:latin typeface="-apple-system"/>
              </a:rPr>
              <a:t>, meaning an experimental system that keeps environmental conditions and total population size</a:t>
            </a:r>
            <a:br>
              <a:rPr lang="en-IN" dirty="0"/>
            </a:br>
            <a:r>
              <a:rPr lang="en-IN" b="0" i="0" u="none" strike="noStrike" dirty="0">
                <a:effectLst/>
                <a:latin typeface="-apple-system"/>
              </a:rPr>
              <a:t>constant by continuously diluting the culture. If one strain grows faster than the other at all</a:t>
            </a:r>
            <a:br>
              <a:rPr lang="en-IN" dirty="0"/>
            </a:br>
            <a:r>
              <a:rPr lang="en-IN" b="0" i="0" u="none" strike="noStrike" dirty="0">
                <a:effectLst/>
                <a:latin typeface="-apple-system"/>
              </a:rPr>
              <a:t>frequencies, what will happen to the slower-growing strain? Explain why.</a:t>
            </a:r>
            <a:br>
              <a:rPr lang="en-IN" dirty="0"/>
            </a:br>
            <a:r>
              <a:rPr lang="en-IN" b="0" i="0" u="none" strike="noStrike" dirty="0">
                <a:effectLst/>
                <a:latin typeface="-apple-system"/>
              </a:rPr>
              <a:t>(30–60 words)</a:t>
            </a:r>
          </a:p>
          <a:p>
            <a:pPr marL="0" indent="0">
              <a:buNone/>
            </a:pPr>
            <a:r>
              <a:rPr lang="en-US" dirty="0"/>
              <a:t>[Notes :</a:t>
            </a:r>
          </a:p>
          <a:p>
            <a:pPr>
              <a:buFontTx/>
              <a:buChar char="-"/>
            </a:pPr>
            <a:r>
              <a:rPr lang="en-US" dirty="0"/>
              <a:t>Add a box where to type the answers into</a:t>
            </a:r>
          </a:p>
          <a:p>
            <a:pPr>
              <a:buFontTx/>
              <a:buChar char="-"/>
            </a:pPr>
            <a:r>
              <a:rPr lang="en-US" dirty="0"/>
              <a:t>Maximum limit of text – 100 words</a:t>
            </a:r>
          </a:p>
          <a:p>
            <a:pPr marL="0" indent="0">
              <a:buNone/>
            </a:pPr>
            <a:endParaRPr lang="en-IN" dirty="0">
              <a:latin typeface="-apple-system"/>
            </a:endParaRPr>
          </a:p>
          <a:p>
            <a:pPr marL="0" indent="0">
              <a:buNone/>
            </a:pPr>
            <a:r>
              <a:rPr lang="en-IN" dirty="0">
                <a:latin typeface="-apple-system"/>
              </a:rPr>
              <a:t>Minimum time - 60 s; maximum time – 90 s</a:t>
            </a:r>
            <a:endParaRPr lang="en-US" dirty="0"/>
          </a:p>
        </p:txBody>
      </p:sp>
    </p:spTree>
    <p:extLst>
      <p:ext uri="{BB962C8B-B14F-4D97-AF65-F5344CB8AC3E}">
        <p14:creationId xmlns:p14="http://schemas.microsoft.com/office/powerpoint/2010/main" val="1388117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C22BC-0656-EA19-5232-F67ABBD05D35}"/>
              </a:ext>
            </a:extLst>
          </p:cNvPr>
          <p:cNvSpPr>
            <a:spLocks noGrp="1"/>
          </p:cNvSpPr>
          <p:nvPr>
            <p:ph type="ctrTitle"/>
          </p:nvPr>
        </p:nvSpPr>
        <p:spPr/>
        <p:txBody>
          <a:bodyPr/>
          <a:lstStyle/>
          <a:p>
            <a:r>
              <a:rPr lang="en-US" dirty="0"/>
              <a:t>TEXT 3</a:t>
            </a:r>
          </a:p>
        </p:txBody>
      </p:sp>
      <p:sp>
        <p:nvSpPr>
          <p:cNvPr id="3" name="Subtitle 2">
            <a:extLst>
              <a:ext uri="{FF2B5EF4-FFF2-40B4-BE49-F238E27FC236}">
                <a16:creationId xmlns:a16="http://schemas.microsoft.com/office/drawing/2014/main" id="{CC31A2EB-C8D1-BA67-C8C1-15B2D2D4B1C1}"/>
              </a:ext>
            </a:extLst>
          </p:cNvPr>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1573655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41B88-8C35-1EB8-3088-0E5B919F887C}"/>
              </a:ext>
            </a:extLst>
          </p:cNvPr>
          <p:cNvSpPr>
            <a:spLocks noGrp="1"/>
          </p:cNvSpPr>
          <p:nvPr>
            <p:ph type="title"/>
          </p:nvPr>
        </p:nvSpPr>
        <p:spPr/>
        <p:txBody>
          <a:bodyPr/>
          <a:lstStyle/>
          <a:p>
            <a:r>
              <a:rPr lang="en-US" dirty="0"/>
              <a:t>QUESTION – 1</a:t>
            </a:r>
          </a:p>
        </p:txBody>
      </p:sp>
      <p:sp>
        <p:nvSpPr>
          <p:cNvPr id="3" name="Content Placeholder 2">
            <a:extLst>
              <a:ext uri="{FF2B5EF4-FFF2-40B4-BE49-F238E27FC236}">
                <a16:creationId xmlns:a16="http://schemas.microsoft.com/office/drawing/2014/main" id="{41639738-F4EF-80A3-0ACD-1D9AD667F08A}"/>
              </a:ext>
            </a:extLst>
          </p:cNvPr>
          <p:cNvSpPr>
            <a:spLocks noGrp="1"/>
          </p:cNvSpPr>
          <p:nvPr>
            <p:ph idx="1"/>
          </p:nvPr>
        </p:nvSpPr>
        <p:spPr/>
        <p:txBody>
          <a:bodyPr/>
          <a:lstStyle/>
          <a:p>
            <a:pPr marL="0" indent="0" algn="l">
              <a:buNone/>
            </a:pPr>
            <a:r>
              <a:rPr lang="en-IN" b="0" i="0" dirty="0">
                <a:effectLst/>
                <a:latin typeface="-apple-system"/>
              </a:rPr>
              <a:t>In the used-car example, what term is used to describe a bad-quality car?</a:t>
            </a:r>
            <a:br>
              <a:rPr lang="en-IN" b="0" i="0" dirty="0">
                <a:effectLst/>
                <a:latin typeface="-apple-system"/>
              </a:rPr>
            </a:br>
            <a:r>
              <a:rPr lang="en-IN" b="0" i="0" dirty="0">
                <a:effectLst/>
                <a:latin typeface="-apple-system"/>
              </a:rPr>
              <a:t>A) Defective</a:t>
            </a:r>
            <a:br>
              <a:rPr lang="en-IN" b="0" i="0" dirty="0">
                <a:effectLst/>
                <a:latin typeface="-apple-system"/>
              </a:rPr>
            </a:br>
            <a:r>
              <a:rPr lang="en-IN" b="0" i="0" dirty="0">
                <a:effectLst/>
                <a:latin typeface="-apple-system"/>
              </a:rPr>
              <a:t>B) Inferior</a:t>
            </a:r>
            <a:br>
              <a:rPr lang="en-IN" b="0" i="0" dirty="0">
                <a:effectLst/>
                <a:latin typeface="-apple-system"/>
              </a:rPr>
            </a:br>
            <a:r>
              <a:rPr lang="en-IN" b="0" i="0" dirty="0">
                <a:effectLst/>
                <a:latin typeface="-apple-system"/>
              </a:rPr>
              <a:t>C) Lemon</a:t>
            </a:r>
            <a:br>
              <a:rPr lang="en-IN" b="0" i="0" dirty="0">
                <a:effectLst/>
                <a:latin typeface="-apple-system"/>
              </a:rPr>
            </a:br>
            <a:r>
              <a:rPr lang="en-IN" b="0" i="0" dirty="0">
                <a:effectLst/>
                <a:latin typeface="-apple-system"/>
              </a:rPr>
              <a:t>D) Second-hand</a:t>
            </a:r>
          </a:p>
          <a:p>
            <a:pPr marL="0" indent="0" algn="l">
              <a:buNone/>
            </a:pPr>
            <a:endParaRPr lang="en-IN" b="0" i="0" dirty="0">
              <a:effectLst/>
              <a:latin typeface="-apple-system"/>
            </a:endParaRPr>
          </a:p>
          <a:p>
            <a:pPr marL="0" indent="0">
              <a:buNone/>
            </a:pPr>
            <a:r>
              <a:rPr lang="en-IN" dirty="0">
                <a:latin typeface="-apple-system"/>
              </a:rPr>
              <a:t>Minimum - 20 seconds; maximum – 40 seconds</a:t>
            </a:r>
            <a:endParaRPr lang="en-IN" b="1" dirty="0"/>
          </a:p>
          <a:p>
            <a:pPr marL="0" indent="0">
              <a:buNone/>
            </a:pPr>
            <a:br>
              <a:rPr lang="en-IN" dirty="0"/>
            </a:br>
            <a:endParaRPr lang="en-US" dirty="0"/>
          </a:p>
        </p:txBody>
      </p:sp>
    </p:spTree>
    <p:extLst>
      <p:ext uri="{BB962C8B-B14F-4D97-AF65-F5344CB8AC3E}">
        <p14:creationId xmlns:p14="http://schemas.microsoft.com/office/powerpoint/2010/main" val="3002702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4C59-42A6-4D94-C381-9F4753ABF100}"/>
              </a:ext>
            </a:extLst>
          </p:cNvPr>
          <p:cNvSpPr>
            <a:spLocks noGrp="1"/>
          </p:cNvSpPr>
          <p:nvPr>
            <p:ph type="title"/>
          </p:nvPr>
        </p:nvSpPr>
        <p:spPr/>
        <p:txBody>
          <a:bodyPr/>
          <a:lstStyle/>
          <a:p>
            <a:r>
              <a:rPr lang="en-US" dirty="0"/>
              <a:t>QUESTION – 2</a:t>
            </a:r>
          </a:p>
        </p:txBody>
      </p:sp>
      <p:sp>
        <p:nvSpPr>
          <p:cNvPr id="3" name="Content Placeholder 2">
            <a:extLst>
              <a:ext uri="{FF2B5EF4-FFF2-40B4-BE49-F238E27FC236}">
                <a16:creationId xmlns:a16="http://schemas.microsoft.com/office/drawing/2014/main" id="{C84DBEDB-A4F6-3A7E-CCCF-FF80353E84F4}"/>
              </a:ext>
            </a:extLst>
          </p:cNvPr>
          <p:cNvSpPr>
            <a:spLocks noGrp="1"/>
          </p:cNvSpPr>
          <p:nvPr>
            <p:ph idx="1"/>
          </p:nvPr>
        </p:nvSpPr>
        <p:spPr/>
        <p:txBody>
          <a:bodyPr/>
          <a:lstStyle/>
          <a:p>
            <a:pPr marL="0" indent="0">
              <a:buNone/>
            </a:pPr>
            <a:r>
              <a:rPr lang="en-IN" b="0" i="0" u="none" strike="noStrike" dirty="0">
                <a:effectLst/>
                <a:latin typeface="-apple-system"/>
              </a:rPr>
              <a:t>According to the text, what does the probability ( q ) represent?</a:t>
            </a:r>
            <a:br>
              <a:rPr lang="en-IN" dirty="0"/>
            </a:br>
            <a:r>
              <a:rPr lang="en-IN" b="0" i="0" u="none" strike="noStrike" dirty="0">
                <a:effectLst/>
                <a:latin typeface="-apple-system"/>
              </a:rPr>
              <a:t>A) The probability a used car will be resold</a:t>
            </a:r>
            <a:br>
              <a:rPr lang="en-IN" dirty="0"/>
            </a:br>
            <a:r>
              <a:rPr lang="en-IN" b="0" i="0" u="none" strike="noStrike" dirty="0">
                <a:effectLst/>
                <a:latin typeface="-apple-system"/>
              </a:rPr>
              <a:t>B) The proportion of good cars produced</a:t>
            </a:r>
            <a:br>
              <a:rPr lang="en-IN" dirty="0"/>
            </a:br>
            <a:r>
              <a:rPr lang="en-IN" b="0" i="0" u="none" strike="noStrike" dirty="0">
                <a:effectLst/>
                <a:latin typeface="-apple-system"/>
              </a:rPr>
              <a:t>C) The chance a buyer can identify a lemon</a:t>
            </a:r>
            <a:br>
              <a:rPr lang="en-IN" dirty="0"/>
            </a:br>
            <a:r>
              <a:rPr lang="en-IN" b="0" i="0" u="none" strike="noStrike" dirty="0">
                <a:effectLst/>
                <a:latin typeface="-apple-system"/>
              </a:rPr>
              <a:t>D) The difference between new and used car prices</a:t>
            </a:r>
          </a:p>
          <a:p>
            <a:pPr marL="0" indent="0">
              <a:buNone/>
            </a:pPr>
            <a:endParaRPr lang="en-IN" dirty="0">
              <a:latin typeface="-apple-system"/>
            </a:endParaRPr>
          </a:p>
          <a:p>
            <a:pPr marL="0" indent="0">
              <a:buNone/>
            </a:pPr>
            <a:r>
              <a:rPr lang="en-IN" dirty="0">
                <a:latin typeface="-apple-system"/>
              </a:rPr>
              <a:t>Minimum - 20 seconds; maximum – 40 seconds</a:t>
            </a:r>
            <a:endParaRPr lang="en-IN" b="1" dirty="0"/>
          </a:p>
          <a:p>
            <a:pPr marL="0" indent="0">
              <a:buNone/>
            </a:pPr>
            <a:endParaRPr lang="en-US" dirty="0"/>
          </a:p>
        </p:txBody>
      </p:sp>
    </p:spTree>
    <p:extLst>
      <p:ext uri="{BB962C8B-B14F-4D97-AF65-F5344CB8AC3E}">
        <p14:creationId xmlns:p14="http://schemas.microsoft.com/office/powerpoint/2010/main" val="30441653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CCE7D-017E-F1BE-A321-7C8AF2B8CD12}"/>
              </a:ext>
            </a:extLst>
          </p:cNvPr>
          <p:cNvSpPr>
            <a:spLocks noGrp="1"/>
          </p:cNvSpPr>
          <p:nvPr>
            <p:ph type="title"/>
          </p:nvPr>
        </p:nvSpPr>
        <p:spPr/>
        <p:txBody>
          <a:bodyPr/>
          <a:lstStyle/>
          <a:p>
            <a:r>
              <a:rPr lang="en-US" dirty="0"/>
              <a:t>QUESTION – 3</a:t>
            </a:r>
          </a:p>
        </p:txBody>
      </p:sp>
      <p:sp>
        <p:nvSpPr>
          <p:cNvPr id="3" name="Content Placeholder 2">
            <a:extLst>
              <a:ext uri="{FF2B5EF4-FFF2-40B4-BE49-F238E27FC236}">
                <a16:creationId xmlns:a16="http://schemas.microsoft.com/office/drawing/2014/main" id="{838BD8DF-6AC9-B3CD-B4B9-88DC1B2D48BB}"/>
              </a:ext>
            </a:extLst>
          </p:cNvPr>
          <p:cNvSpPr>
            <a:spLocks noGrp="1"/>
          </p:cNvSpPr>
          <p:nvPr>
            <p:ph idx="1"/>
          </p:nvPr>
        </p:nvSpPr>
        <p:spPr/>
        <p:txBody>
          <a:bodyPr/>
          <a:lstStyle/>
          <a:p>
            <a:pPr marL="0" indent="0">
              <a:buNone/>
            </a:pPr>
            <a:r>
              <a:rPr lang="en-IN" b="0" i="0" u="none" strike="noStrike" dirty="0">
                <a:effectLst/>
                <a:latin typeface="-apple-system"/>
              </a:rPr>
              <a:t>Which situation best explains why good and bad used cars sell at the same price?</a:t>
            </a:r>
            <a:br>
              <a:rPr lang="en-IN" dirty="0"/>
            </a:br>
            <a:r>
              <a:rPr lang="en-IN" b="0" i="0" u="none" strike="noStrike" dirty="0">
                <a:effectLst/>
                <a:latin typeface="-apple-system"/>
              </a:rPr>
              <a:t>A) Sellers are legally required to charge the same price</a:t>
            </a:r>
            <a:br>
              <a:rPr lang="en-IN" dirty="0"/>
            </a:br>
            <a:r>
              <a:rPr lang="en-IN" b="0" i="0" u="none" strike="noStrike" dirty="0">
                <a:effectLst/>
                <a:latin typeface="-apple-system"/>
              </a:rPr>
              <a:t>B) Buyers prefer cheaper cars regardless of quality</a:t>
            </a:r>
            <a:br>
              <a:rPr lang="en-IN" dirty="0"/>
            </a:br>
            <a:r>
              <a:rPr lang="en-IN" b="0" i="0" u="none" strike="noStrike" dirty="0">
                <a:effectLst/>
                <a:latin typeface="-apple-system"/>
              </a:rPr>
              <a:t>C) Buyers cannot distinguish between good cars and lemons</a:t>
            </a:r>
            <a:br>
              <a:rPr lang="en-IN" dirty="0"/>
            </a:br>
            <a:r>
              <a:rPr lang="en-IN" b="0" i="0" u="none" strike="noStrike" dirty="0">
                <a:effectLst/>
                <a:latin typeface="-apple-system"/>
              </a:rPr>
              <a:t>D) Sellers do not know the quality of their own cars</a:t>
            </a:r>
          </a:p>
          <a:p>
            <a:pPr marL="0" indent="0">
              <a:buNone/>
            </a:pPr>
            <a:endParaRPr lang="en-IN" dirty="0">
              <a:latin typeface="-apple-system"/>
            </a:endParaRPr>
          </a:p>
          <a:p>
            <a:pPr marL="0" indent="0">
              <a:buNone/>
            </a:pPr>
            <a:r>
              <a:rPr lang="en-IN" dirty="0">
                <a:latin typeface="-apple-system"/>
              </a:rPr>
              <a:t>Minimum - 20 seconds; maximum – 40 seconds</a:t>
            </a:r>
            <a:endParaRPr lang="en-IN" b="1" dirty="0"/>
          </a:p>
          <a:p>
            <a:pPr marL="0" indent="0">
              <a:buNone/>
            </a:pPr>
            <a:endParaRPr lang="en-US" dirty="0"/>
          </a:p>
        </p:txBody>
      </p:sp>
    </p:spTree>
    <p:extLst>
      <p:ext uri="{BB962C8B-B14F-4D97-AF65-F5344CB8AC3E}">
        <p14:creationId xmlns:p14="http://schemas.microsoft.com/office/powerpoint/2010/main" val="30767819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806FC-CD81-34F9-096D-733FCF656E72}"/>
              </a:ext>
            </a:extLst>
          </p:cNvPr>
          <p:cNvSpPr>
            <a:spLocks noGrp="1"/>
          </p:cNvSpPr>
          <p:nvPr>
            <p:ph type="title"/>
          </p:nvPr>
        </p:nvSpPr>
        <p:spPr/>
        <p:txBody>
          <a:bodyPr/>
          <a:lstStyle/>
          <a:p>
            <a:r>
              <a:rPr lang="en-US" dirty="0"/>
              <a:t>QUESTION – 4</a:t>
            </a:r>
          </a:p>
        </p:txBody>
      </p:sp>
      <p:sp>
        <p:nvSpPr>
          <p:cNvPr id="3" name="Content Placeholder 2">
            <a:extLst>
              <a:ext uri="{FF2B5EF4-FFF2-40B4-BE49-F238E27FC236}">
                <a16:creationId xmlns:a16="http://schemas.microsoft.com/office/drawing/2014/main" id="{494DE718-9FF4-6104-379E-5B50BD3D3ADA}"/>
              </a:ext>
            </a:extLst>
          </p:cNvPr>
          <p:cNvSpPr>
            <a:spLocks noGrp="1"/>
          </p:cNvSpPr>
          <p:nvPr>
            <p:ph idx="1"/>
          </p:nvPr>
        </p:nvSpPr>
        <p:spPr/>
        <p:txBody>
          <a:bodyPr>
            <a:normAutofit lnSpcReduction="10000"/>
          </a:bodyPr>
          <a:lstStyle/>
          <a:p>
            <a:pPr marL="0" indent="0">
              <a:buNone/>
            </a:pPr>
            <a:r>
              <a:rPr lang="en-IN" b="0" i="0" u="none" strike="noStrike" dirty="0">
                <a:effectLst/>
                <a:latin typeface="-apple-system"/>
              </a:rPr>
              <a:t>Differentiate between the incentives faced by sellers of good cars and sellers of lemons in the</a:t>
            </a:r>
            <a:br>
              <a:rPr lang="en-IN" dirty="0"/>
            </a:br>
            <a:r>
              <a:rPr lang="en-IN" b="0" i="0" u="none" strike="noStrike" dirty="0">
                <a:effectLst/>
                <a:latin typeface="-apple-system"/>
              </a:rPr>
              <a:t>used-car market.</a:t>
            </a:r>
            <a:br>
              <a:rPr lang="en-IN" dirty="0"/>
            </a:br>
            <a:r>
              <a:rPr lang="en-IN" b="0" i="0" u="none" strike="noStrike" dirty="0">
                <a:effectLst/>
                <a:latin typeface="-apple-system"/>
              </a:rPr>
              <a:t>(50–80 words)</a:t>
            </a:r>
          </a:p>
          <a:p>
            <a:pPr marL="0" indent="0">
              <a:buNone/>
            </a:pPr>
            <a:endParaRPr lang="en-IN" dirty="0">
              <a:latin typeface="-apple-system"/>
            </a:endParaRPr>
          </a:p>
          <a:p>
            <a:pPr marL="0" indent="0">
              <a:buNone/>
            </a:pPr>
            <a:r>
              <a:rPr lang="en-US" dirty="0"/>
              <a:t>[Notes :</a:t>
            </a:r>
          </a:p>
          <a:p>
            <a:pPr>
              <a:buFontTx/>
              <a:buChar char="-"/>
            </a:pPr>
            <a:r>
              <a:rPr lang="en-US" dirty="0"/>
              <a:t>Add a box where to type the answers into</a:t>
            </a:r>
          </a:p>
          <a:p>
            <a:pPr>
              <a:buFontTx/>
              <a:buChar char="-"/>
            </a:pPr>
            <a:r>
              <a:rPr lang="en-US" dirty="0"/>
              <a:t>Maximum limit of text – 100 words</a:t>
            </a:r>
          </a:p>
          <a:p>
            <a:pPr marL="0" indent="0">
              <a:buNone/>
            </a:pPr>
            <a:endParaRPr lang="en-IN" dirty="0">
              <a:latin typeface="-apple-system"/>
            </a:endParaRPr>
          </a:p>
          <a:p>
            <a:pPr marL="0" indent="0">
              <a:buNone/>
            </a:pPr>
            <a:r>
              <a:rPr lang="en-IN" dirty="0">
                <a:latin typeface="-apple-system"/>
              </a:rPr>
              <a:t>Minimum time - 60 s; maximum time – 120 s</a:t>
            </a:r>
            <a:endParaRPr lang="en-US" dirty="0"/>
          </a:p>
        </p:txBody>
      </p:sp>
    </p:spTree>
    <p:extLst>
      <p:ext uri="{BB962C8B-B14F-4D97-AF65-F5344CB8AC3E}">
        <p14:creationId xmlns:p14="http://schemas.microsoft.com/office/powerpoint/2010/main" val="520712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546AD-D566-EA93-6390-3F0F8723BE64}"/>
              </a:ext>
            </a:extLst>
          </p:cNvPr>
          <p:cNvSpPr>
            <a:spLocks noGrp="1"/>
          </p:cNvSpPr>
          <p:nvPr>
            <p:ph type="title"/>
          </p:nvPr>
        </p:nvSpPr>
        <p:spPr/>
        <p:txBody>
          <a:bodyPr/>
          <a:lstStyle/>
          <a:p>
            <a:r>
              <a:rPr lang="en-US" dirty="0"/>
              <a:t>QUESTION – 5</a:t>
            </a:r>
          </a:p>
        </p:txBody>
      </p:sp>
      <p:sp>
        <p:nvSpPr>
          <p:cNvPr id="3" name="Content Placeholder 2">
            <a:extLst>
              <a:ext uri="{FF2B5EF4-FFF2-40B4-BE49-F238E27FC236}">
                <a16:creationId xmlns:a16="http://schemas.microsoft.com/office/drawing/2014/main" id="{A2C05CA3-20A6-A177-05DA-ED9934C1DB6D}"/>
              </a:ext>
            </a:extLst>
          </p:cNvPr>
          <p:cNvSpPr>
            <a:spLocks noGrp="1"/>
          </p:cNvSpPr>
          <p:nvPr>
            <p:ph idx="1"/>
          </p:nvPr>
        </p:nvSpPr>
        <p:spPr/>
        <p:txBody>
          <a:bodyPr>
            <a:normAutofit lnSpcReduction="10000"/>
          </a:bodyPr>
          <a:lstStyle/>
          <a:p>
            <a:pPr marL="0" indent="0">
              <a:buNone/>
            </a:pPr>
            <a:r>
              <a:rPr lang="en-IN" b="0" i="0" u="none" strike="noStrike" dirty="0">
                <a:effectLst/>
                <a:latin typeface="-apple-system"/>
              </a:rPr>
              <a:t>Assess whether government intervention could improve outcomes in markets like the used-car</a:t>
            </a:r>
            <a:br>
              <a:rPr lang="en-IN" dirty="0"/>
            </a:br>
            <a:r>
              <a:rPr lang="en-IN" b="0" i="0" u="none" strike="noStrike" dirty="0">
                <a:effectLst/>
                <a:latin typeface="-apple-system"/>
              </a:rPr>
              <a:t>market described. Support your answer using examples from the text.</a:t>
            </a:r>
            <a:br>
              <a:rPr lang="en-IN" dirty="0"/>
            </a:br>
            <a:r>
              <a:rPr lang="en-IN" b="0" i="0" u="none" strike="noStrike" dirty="0">
                <a:effectLst/>
                <a:latin typeface="-apple-system"/>
              </a:rPr>
              <a:t>(80–120 words)</a:t>
            </a:r>
          </a:p>
          <a:p>
            <a:pPr marL="0" indent="0">
              <a:buNone/>
            </a:pPr>
            <a:endParaRPr lang="en-IN" dirty="0">
              <a:latin typeface="-apple-system"/>
            </a:endParaRPr>
          </a:p>
          <a:p>
            <a:pPr marL="0" indent="0">
              <a:buNone/>
            </a:pPr>
            <a:r>
              <a:rPr lang="en-US" dirty="0"/>
              <a:t>[Notes :</a:t>
            </a:r>
          </a:p>
          <a:p>
            <a:pPr>
              <a:buFontTx/>
              <a:buChar char="-"/>
            </a:pPr>
            <a:r>
              <a:rPr lang="en-US" dirty="0"/>
              <a:t>Add a box where to type the answers into</a:t>
            </a:r>
          </a:p>
          <a:p>
            <a:pPr>
              <a:buFontTx/>
              <a:buChar char="-"/>
            </a:pPr>
            <a:r>
              <a:rPr lang="en-US" dirty="0"/>
              <a:t>Maximum limit of text – 200 words</a:t>
            </a:r>
          </a:p>
          <a:p>
            <a:pPr marL="0" indent="0">
              <a:buNone/>
            </a:pPr>
            <a:endParaRPr lang="en-IN" dirty="0">
              <a:latin typeface="-apple-system"/>
            </a:endParaRPr>
          </a:p>
          <a:p>
            <a:pPr marL="0" indent="0">
              <a:buNone/>
            </a:pPr>
            <a:r>
              <a:rPr lang="en-IN" dirty="0">
                <a:latin typeface="-apple-system"/>
              </a:rPr>
              <a:t>Minimum time – 120 s; maximum time – 240 s</a:t>
            </a:r>
            <a:endParaRPr lang="en-US" dirty="0"/>
          </a:p>
        </p:txBody>
      </p:sp>
    </p:spTree>
    <p:extLst>
      <p:ext uri="{BB962C8B-B14F-4D97-AF65-F5344CB8AC3E}">
        <p14:creationId xmlns:p14="http://schemas.microsoft.com/office/powerpoint/2010/main" val="2587690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FA8D9-E50B-70BB-DB82-6EBBAF51470E}"/>
              </a:ext>
            </a:extLst>
          </p:cNvPr>
          <p:cNvSpPr>
            <a:spLocks noGrp="1"/>
          </p:cNvSpPr>
          <p:nvPr>
            <p:ph type="title"/>
          </p:nvPr>
        </p:nvSpPr>
        <p:spPr/>
        <p:txBody>
          <a:bodyPr/>
          <a:lstStyle/>
          <a:p>
            <a:r>
              <a:rPr lang="en-US" dirty="0"/>
              <a:t>QUESTION – 6</a:t>
            </a:r>
          </a:p>
        </p:txBody>
      </p:sp>
      <p:sp>
        <p:nvSpPr>
          <p:cNvPr id="3" name="Content Placeholder 2">
            <a:extLst>
              <a:ext uri="{FF2B5EF4-FFF2-40B4-BE49-F238E27FC236}">
                <a16:creationId xmlns:a16="http://schemas.microsoft.com/office/drawing/2014/main" id="{C94A2229-ECD4-0F82-D3A2-4293C9360C2C}"/>
              </a:ext>
            </a:extLst>
          </p:cNvPr>
          <p:cNvSpPr>
            <a:spLocks noGrp="1"/>
          </p:cNvSpPr>
          <p:nvPr>
            <p:ph idx="1"/>
          </p:nvPr>
        </p:nvSpPr>
        <p:spPr/>
        <p:txBody>
          <a:bodyPr>
            <a:normAutofit fontScale="92500" lnSpcReduction="20000"/>
          </a:bodyPr>
          <a:lstStyle/>
          <a:p>
            <a:pPr marL="0" indent="0" algn="l">
              <a:buNone/>
            </a:pPr>
            <a:r>
              <a:rPr lang="en-IN" b="0" i="0" dirty="0">
                <a:effectLst/>
                <a:latin typeface="-apple-system"/>
              </a:rPr>
              <a:t>Apply the idea of information asymmetry. In this market, information asymmetry means that one</a:t>
            </a:r>
            <a:br>
              <a:rPr lang="en-IN" b="0" i="0" dirty="0">
                <a:effectLst/>
                <a:latin typeface="-apple-system"/>
              </a:rPr>
            </a:br>
            <a:r>
              <a:rPr lang="en-IN" b="0" i="0" dirty="0">
                <a:effectLst/>
                <a:latin typeface="-apple-system"/>
              </a:rPr>
              <a:t>side of the transaction knows more than the other. Who knows more, and how does this affect</a:t>
            </a:r>
            <a:br>
              <a:rPr lang="en-IN" b="0" i="0" dirty="0">
                <a:effectLst/>
                <a:latin typeface="-apple-system"/>
              </a:rPr>
            </a:br>
            <a:r>
              <a:rPr lang="en-IN" b="0" i="0" dirty="0">
                <a:effectLst/>
                <a:latin typeface="-apple-system"/>
              </a:rPr>
              <a:t>pricing?</a:t>
            </a:r>
            <a:br>
              <a:rPr lang="en-IN" b="0" i="0" dirty="0">
                <a:effectLst/>
                <a:latin typeface="-apple-system"/>
              </a:rPr>
            </a:br>
            <a:r>
              <a:rPr lang="en-IN" b="0" i="0" dirty="0">
                <a:effectLst/>
                <a:latin typeface="-apple-system"/>
              </a:rPr>
              <a:t>(30–60 words)</a:t>
            </a:r>
          </a:p>
          <a:p>
            <a:pPr marL="0" indent="0">
              <a:buNone/>
            </a:pPr>
            <a:endParaRPr lang="en-IN" dirty="0"/>
          </a:p>
          <a:p>
            <a:pPr marL="0" indent="0">
              <a:buNone/>
            </a:pPr>
            <a:r>
              <a:rPr lang="en-US" dirty="0"/>
              <a:t>[Notes :</a:t>
            </a:r>
          </a:p>
          <a:p>
            <a:pPr>
              <a:buFontTx/>
              <a:buChar char="-"/>
            </a:pPr>
            <a:r>
              <a:rPr lang="en-US" dirty="0"/>
              <a:t>Add a box where to type the answers into</a:t>
            </a:r>
          </a:p>
          <a:p>
            <a:pPr>
              <a:buFontTx/>
              <a:buChar char="-"/>
            </a:pPr>
            <a:r>
              <a:rPr lang="en-US" dirty="0"/>
              <a:t>Maximum limit of text – 100 words</a:t>
            </a:r>
          </a:p>
          <a:p>
            <a:pPr marL="0" indent="0">
              <a:buNone/>
            </a:pPr>
            <a:br>
              <a:rPr lang="en-IN" dirty="0"/>
            </a:br>
            <a:r>
              <a:rPr lang="en-IN" dirty="0"/>
              <a:t>minimum time – 60 s; maximum time – 90 s</a:t>
            </a:r>
            <a:endParaRPr lang="en-US" dirty="0"/>
          </a:p>
        </p:txBody>
      </p:sp>
    </p:spTree>
    <p:extLst>
      <p:ext uri="{BB962C8B-B14F-4D97-AF65-F5344CB8AC3E}">
        <p14:creationId xmlns:p14="http://schemas.microsoft.com/office/powerpoint/2010/main" val="4233722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4943C-54C4-7607-0D83-039223624F30}"/>
              </a:ext>
            </a:extLst>
          </p:cNvPr>
          <p:cNvSpPr>
            <a:spLocks noGrp="1"/>
          </p:cNvSpPr>
          <p:nvPr>
            <p:ph type="ctrTitle"/>
          </p:nvPr>
        </p:nvSpPr>
        <p:spPr/>
        <p:txBody>
          <a:bodyPr/>
          <a:lstStyle/>
          <a:p>
            <a:r>
              <a:rPr lang="en-US" dirty="0"/>
              <a:t>TEXT 4</a:t>
            </a:r>
          </a:p>
        </p:txBody>
      </p:sp>
      <p:sp>
        <p:nvSpPr>
          <p:cNvPr id="3" name="Subtitle 2">
            <a:extLst>
              <a:ext uri="{FF2B5EF4-FFF2-40B4-BE49-F238E27FC236}">
                <a16:creationId xmlns:a16="http://schemas.microsoft.com/office/drawing/2014/main" id="{D8E92903-16DE-CBF4-A70A-54501B75A847}"/>
              </a:ext>
            </a:extLst>
          </p:cNvPr>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2796318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BE408-216A-B215-EFC6-6C8E2A080B1B}"/>
              </a:ext>
            </a:extLst>
          </p:cNvPr>
          <p:cNvSpPr>
            <a:spLocks noGrp="1"/>
          </p:cNvSpPr>
          <p:nvPr>
            <p:ph type="title"/>
          </p:nvPr>
        </p:nvSpPr>
        <p:spPr/>
        <p:txBody>
          <a:bodyPr/>
          <a:lstStyle/>
          <a:p>
            <a:r>
              <a:rPr lang="en-US" dirty="0"/>
              <a:t>QUESTION – 1</a:t>
            </a:r>
          </a:p>
        </p:txBody>
      </p:sp>
      <p:sp>
        <p:nvSpPr>
          <p:cNvPr id="3" name="Content Placeholder 2">
            <a:extLst>
              <a:ext uri="{FF2B5EF4-FFF2-40B4-BE49-F238E27FC236}">
                <a16:creationId xmlns:a16="http://schemas.microsoft.com/office/drawing/2014/main" id="{B17B07C8-F683-B9CE-C44D-C2D4AD5078C6}"/>
              </a:ext>
            </a:extLst>
          </p:cNvPr>
          <p:cNvSpPr>
            <a:spLocks noGrp="1"/>
          </p:cNvSpPr>
          <p:nvPr>
            <p:ph idx="1"/>
          </p:nvPr>
        </p:nvSpPr>
        <p:spPr/>
        <p:txBody>
          <a:bodyPr>
            <a:normAutofit lnSpcReduction="10000"/>
          </a:bodyPr>
          <a:lstStyle/>
          <a:p>
            <a:pPr marL="0" indent="0">
              <a:buNone/>
            </a:pPr>
            <a:r>
              <a:rPr lang="en-IN" b="0" i="0" u="none" strike="noStrike" dirty="0">
                <a:effectLst/>
                <a:latin typeface="-apple-system"/>
              </a:rPr>
              <a:t>According to the text, what is the primary goal of condition A1 in the Byzantine Generals Problem?</a:t>
            </a:r>
            <a:br>
              <a:rPr lang="en-IN" dirty="0"/>
            </a:br>
            <a:r>
              <a:rPr lang="en-IN" b="0" i="0" u="none" strike="noStrike" dirty="0">
                <a:effectLst/>
                <a:latin typeface="-apple-system"/>
              </a:rPr>
              <a:t>A) To ensure that all traitors are identified and removed from the army.</a:t>
            </a:r>
            <a:br>
              <a:rPr lang="en-IN" dirty="0"/>
            </a:br>
            <a:r>
              <a:rPr lang="en-IN" b="0" i="0" u="none" strike="noStrike" dirty="0">
                <a:effectLst/>
                <a:latin typeface="-apple-system"/>
              </a:rPr>
              <a:t>B) To guarantee that all loyal generals decide upon the same plan of action.</a:t>
            </a:r>
            <a:br>
              <a:rPr lang="en-IN" dirty="0"/>
            </a:br>
            <a:r>
              <a:rPr lang="en-IN" b="0" i="0" u="none" strike="noStrike" dirty="0">
                <a:effectLst/>
                <a:latin typeface="-apple-system"/>
              </a:rPr>
              <a:t>C) To allow messengers to communicate without being intercepted by the enemy.</a:t>
            </a:r>
            <a:br>
              <a:rPr lang="en-IN" dirty="0"/>
            </a:br>
            <a:r>
              <a:rPr lang="en-IN" b="0" i="0" u="none" strike="noStrike" dirty="0">
                <a:effectLst/>
                <a:latin typeface="-apple-system"/>
              </a:rPr>
              <a:t>D) To ensure that the commander is always a loyal member of the army.</a:t>
            </a:r>
          </a:p>
          <a:p>
            <a:pPr marL="0" indent="0">
              <a:buNone/>
            </a:pPr>
            <a:endParaRPr lang="en-IN" b="0" i="0" u="none" strike="noStrike" dirty="0">
              <a:effectLst/>
              <a:latin typeface="-apple-system"/>
            </a:endParaRPr>
          </a:p>
          <a:p>
            <a:pPr marL="0" indent="0">
              <a:buNone/>
            </a:pPr>
            <a:r>
              <a:rPr lang="en-IN" dirty="0">
                <a:latin typeface="-apple-system"/>
              </a:rPr>
              <a:t>Minimum - 20 seconds; maximum – 40 seconds</a:t>
            </a:r>
            <a:endParaRPr lang="en-IN" b="1" dirty="0"/>
          </a:p>
          <a:p>
            <a:pPr marL="0" indent="0">
              <a:buNone/>
            </a:pPr>
            <a:endParaRPr lang="en-US" dirty="0"/>
          </a:p>
        </p:txBody>
      </p:sp>
    </p:spTree>
    <p:extLst>
      <p:ext uri="{BB962C8B-B14F-4D97-AF65-F5344CB8AC3E}">
        <p14:creationId xmlns:p14="http://schemas.microsoft.com/office/powerpoint/2010/main" val="1847053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87933-729E-A3BD-8DD0-0C84F4423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D5419F-75EC-18B0-60AB-8D796DEEBAFC}"/>
              </a:ext>
            </a:extLst>
          </p:cNvPr>
          <p:cNvSpPr>
            <a:spLocks noGrp="1"/>
          </p:cNvSpPr>
          <p:nvPr>
            <p:ph type="title"/>
          </p:nvPr>
        </p:nvSpPr>
        <p:spPr/>
        <p:txBody>
          <a:bodyPr/>
          <a:lstStyle/>
          <a:p>
            <a:r>
              <a:rPr lang="en-US" dirty="0"/>
              <a:t>QUESTION – 2</a:t>
            </a:r>
          </a:p>
        </p:txBody>
      </p:sp>
      <p:sp>
        <p:nvSpPr>
          <p:cNvPr id="3" name="Content Placeholder 2">
            <a:extLst>
              <a:ext uri="{FF2B5EF4-FFF2-40B4-BE49-F238E27FC236}">
                <a16:creationId xmlns:a16="http://schemas.microsoft.com/office/drawing/2014/main" id="{5D72CAAD-595C-9537-8324-71AD73CBB13F}"/>
              </a:ext>
            </a:extLst>
          </p:cNvPr>
          <p:cNvSpPr>
            <a:spLocks noGrp="1"/>
          </p:cNvSpPr>
          <p:nvPr>
            <p:ph idx="1"/>
          </p:nvPr>
        </p:nvSpPr>
        <p:spPr/>
        <p:txBody>
          <a:bodyPr>
            <a:normAutofit/>
          </a:bodyPr>
          <a:lstStyle/>
          <a:p>
            <a:pPr marL="0" indent="0" algn="l">
              <a:buNone/>
            </a:pPr>
            <a:r>
              <a:rPr lang="en-IN" b="0" i="0" dirty="0">
                <a:effectLst/>
                <a:latin typeface="-apple-system"/>
              </a:rPr>
              <a:t>How does the text define a "bad plan" in the context of the generals' agreement?</a:t>
            </a:r>
            <a:br>
              <a:rPr lang="en-IN" b="0" i="0" dirty="0">
                <a:effectLst/>
                <a:latin typeface="-apple-system"/>
              </a:rPr>
            </a:br>
            <a:r>
              <a:rPr lang="en-IN" b="0" i="0" dirty="0">
                <a:effectLst/>
                <a:latin typeface="-apple-system"/>
              </a:rPr>
              <a:t>A) A plan that results in a military defeat against the enemy city.</a:t>
            </a:r>
            <a:br>
              <a:rPr lang="en-IN" b="0" i="0" dirty="0">
                <a:effectLst/>
                <a:latin typeface="-apple-system"/>
              </a:rPr>
            </a:br>
            <a:r>
              <a:rPr lang="en-IN" b="0" i="0" dirty="0">
                <a:effectLst/>
                <a:latin typeface="-apple-system"/>
              </a:rPr>
              <a:t>B) A plan that is chosen when the majority of the generals are traitors.</a:t>
            </a:r>
            <a:br>
              <a:rPr lang="en-IN" b="0" i="0" dirty="0">
                <a:effectLst/>
                <a:latin typeface="-apple-system"/>
              </a:rPr>
            </a:br>
            <a:r>
              <a:rPr lang="en-IN" b="0" i="0" dirty="0">
                <a:effectLst/>
                <a:latin typeface="-apple-system"/>
              </a:rPr>
              <a:t>C) A plan that is different from what would have been adopted if no traitors existed.</a:t>
            </a:r>
            <a:br>
              <a:rPr lang="en-IN" b="0" i="0" dirty="0">
                <a:effectLst/>
                <a:latin typeface="-apple-system"/>
              </a:rPr>
            </a:br>
            <a:r>
              <a:rPr lang="en-IN" b="0" i="0" dirty="0">
                <a:effectLst/>
                <a:latin typeface="-apple-system"/>
              </a:rPr>
              <a:t>D) A plan where the generals decide to retreat instead of attacking the enemy.</a:t>
            </a:r>
          </a:p>
          <a:p>
            <a:pPr marL="0" indent="0">
              <a:buNone/>
            </a:pPr>
            <a:br>
              <a:rPr lang="en-IN" dirty="0"/>
            </a:br>
            <a:r>
              <a:rPr lang="en-IN" dirty="0">
                <a:latin typeface="-apple-system"/>
              </a:rPr>
              <a:t>Minimum - 20 seconds; maximum – 40 seconds</a:t>
            </a:r>
            <a:endParaRPr lang="en-IN" b="1" dirty="0"/>
          </a:p>
          <a:p>
            <a:pPr marL="0" indent="0">
              <a:buNone/>
            </a:pPr>
            <a:endParaRPr lang="en-US" dirty="0"/>
          </a:p>
        </p:txBody>
      </p:sp>
    </p:spTree>
    <p:extLst>
      <p:ext uri="{BB962C8B-B14F-4D97-AF65-F5344CB8AC3E}">
        <p14:creationId xmlns:p14="http://schemas.microsoft.com/office/powerpoint/2010/main" val="39512596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E16D0-306C-60ED-CEED-C2FC656E4F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54887-25FC-FA89-58C7-B06591FD2F0E}"/>
              </a:ext>
            </a:extLst>
          </p:cNvPr>
          <p:cNvSpPr>
            <a:spLocks noGrp="1"/>
          </p:cNvSpPr>
          <p:nvPr>
            <p:ph type="title"/>
          </p:nvPr>
        </p:nvSpPr>
        <p:spPr/>
        <p:txBody>
          <a:bodyPr/>
          <a:lstStyle/>
          <a:p>
            <a:r>
              <a:rPr lang="en-US" dirty="0"/>
              <a:t>QUESTION – 3</a:t>
            </a:r>
          </a:p>
        </p:txBody>
      </p:sp>
      <p:sp>
        <p:nvSpPr>
          <p:cNvPr id="3" name="Content Placeholder 2">
            <a:extLst>
              <a:ext uri="{FF2B5EF4-FFF2-40B4-BE49-F238E27FC236}">
                <a16:creationId xmlns:a16="http://schemas.microsoft.com/office/drawing/2014/main" id="{E40A410F-ACD4-AFB7-7840-B6A51B90C055}"/>
              </a:ext>
            </a:extLst>
          </p:cNvPr>
          <p:cNvSpPr>
            <a:spLocks noGrp="1"/>
          </p:cNvSpPr>
          <p:nvPr>
            <p:ph idx="1"/>
          </p:nvPr>
        </p:nvSpPr>
        <p:spPr>
          <a:xfrm>
            <a:off x="838200" y="1280160"/>
            <a:ext cx="10515600" cy="5212715"/>
          </a:xfrm>
        </p:spPr>
        <p:txBody>
          <a:bodyPr/>
          <a:lstStyle/>
          <a:p>
            <a:pPr marL="0" indent="0">
              <a:buNone/>
            </a:pPr>
            <a:r>
              <a:rPr lang="en-IN" b="0" i="0" u="none" strike="noStrike" dirty="0">
                <a:effectLst/>
                <a:latin typeface="-apple-system"/>
              </a:rPr>
              <a:t>Based on the text's analysis of the three-general scenario, why is it impossible for a loyal lieutenant to distinguish between a loyal commander and a traitorous commander?</a:t>
            </a:r>
            <a:br>
              <a:rPr lang="en-IN" dirty="0"/>
            </a:br>
            <a:r>
              <a:rPr lang="en-IN" b="0" i="0" u="none" strike="noStrike" dirty="0">
                <a:effectLst/>
                <a:latin typeface="-apple-system"/>
              </a:rPr>
              <a:t>A) The messengers intentionally scramble the messages to protect the generals.</a:t>
            </a:r>
            <a:br>
              <a:rPr lang="en-IN" dirty="0"/>
            </a:br>
            <a:r>
              <a:rPr lang="en-IN" b="0" i="0" u="none" strike="noStrike" dirty="0">
                <a:effectLst/>
                <a:latin typeface="-apple-system"/>
              </a:rPr>
              <a:t>B) The lieutenant cannot communicate directly with the other lieutenants in the camp.</a:t>
            </a:r>
            <a:br>
              <a:rPr lang="en-IN" dirty="0"/>
            </a:br>
            <a:r>
              <a:rPr lang="en-IN" b="0" i="0" u="none" strike="noStrike" dirty="0">
                <a:effectLst/>
                <a:latin typeface="-apple-system"/>
              </a:rPr>
              <a:t>C) The lieutenant receives the exact same set of conflicting messages in both scenarios.</a:t>
            </a:r>
            <a:br>
              <a:rPr lang="en-IN" dirty="0"/>
            </a:br>
            <a:r>
              <a:rPr lang="en-IN" b="0" i="0" u="none" strike="noStrike" dirty="0">
                <a:effectLst/>
                <a:latin typeface="-apple-system"/>
              </a:rPr>
              <a:t>D) The loyal generals are required by the algorithm to ignore all incoming messages.</a:t>
            </a:r>
          </a:p>
          <a:p>
            <a:pPr marL="0" indent="0">
              <a:buNone/>
            </a:pPr>
            <a:r>
              <a:rPr lang="en-IN" dirty="0">
                <a:latin typeface="-apple-system"/>
              </a:rPr>
              <a:t>Minimum - 20 seconds; maximum – 40 seconds</a:t>
            </a:r>
            <a:endParaRPr lang="en-IN" b="1" dirty="0"/>
          </a:p>
          <a:p>
            <a:pPr marL="0" indent="0">
              <a:buNone/>
            </a:pPr>
            <a:endParaRPr lang="en-US" dirty="0"/>
          </a:p>
        </p:txBody>
      </p:sp>
    </p:spTree>
    <p:extLst>
      <p:ext uri="{BB962C8B-B14F-4D97-AF65-F5344CB8AC3E}">
        <p14:creationId xmlns:p14="http://schemas.microsoft.com/office/powerpoint/2010/main" val="6325563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86FC6-24D0-93A3-82B0-B23D3210A7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0BCE2-0721-527F-AF35-C66DA4202C54}"/>
              </a:ext>
            </a:extLst>
          </p:cNvPr>
          <p:cNvSpPr>
            <a:spLocks noGrp="1"/>
          </p:cNvSpPr>
          <p:nvPr>
            <p:ph type="title"/>
          </p:nvPr>
        </p:nvSpPr>
        <p:spPr/>
        <p:txBody>
          <a:bodyPr/>
          <a:lstStyle/>
          <a:p>
            <a:r>
              <a:rPr lang="en-US" dirty="0"/>
              <a:t>QUESTION – 4</a:t>
            </a:r>
          </a:p>
        </p:txBody>
      </p:sp>
      <p:sp>
        <p:nvSpPr>
          <p:cNvPr id="3" name="Content Placeholder 2">
            <a:extLst>
              <a:ext uri="{FF2B5EF4-FFF2-40B4-BE49-F238E27FC236}">
                <a16:creationId xmlns:a16="http://schemas.microsoft.com/office/drawing/2014/main" id="{704F57F9-4DD6-63D2-0FAD-3961F43AD4C9}"/>
              </a:ext>
            </a:extLst>
          </p:cNvPr>
          <p:cNvSpPr>
            <a:spLocks noGrp="1"/>
          </p:cNvSpPr>
          <p:nvPr>
            <p:ph idx="1"/>
          </p:nvPr>
        </p:nvSpPr>
        <p:spPr/>
        <p:txBody>
          <a:bodyPr>
            <a:normAutofit fontScale="92500" lnSpcReduction="20000"/>
          </a:bodyPr>
          <a:lstStyle/>
          <a:p>
            <a:pPr marL="0" indent="0">
              <a:buNone/>
            </a:pPr>
            <a:r>
              <a:rPr lang="en-IN" b="0" i="0" u="none" strike="noStrike" dirty="0">
                <a:effectLst/>
                <a:latin typeface="-apple-system"/>
              </a:rPr>
              <a:t>Differentiate between condition IC1 and condition IC2 as described in the interactive consistency conditions.</a:t>
            </a:r>
            <a:br>
              <a:rPr lang="en-IN" dirty="0"/>
            </a:br>
            <a:r>
              <a:rPr lang="en-IN" b="0" i="0" u="none" strike="noStrike" dirty="0">
                <a:effectLst/>
                <a:latin typeface="-apple-system"/>
              </a:rPr>
              <a:t>(50–80 words)</a:t>
            </a:r>
          </a:p>
          <a:p>
            <a:pPr marL="0" indent="0">
              <a:buNone/>
            </a:pPr>
            <a:endParaRPr lang="en-IN" dirty="0">
              <a:latin typeface="-apple-system"/>
            </a:endParaRPr>
          </a:p>
          <a:p>
            <a:pPr marL="0" indent="0">
              <a:buNone/>
            </a:pPr>
            <a:endParaRPr lang="en-IN" dirty="0">
              <a:latin typeface="-apple-system"/>
            </a:endParaRPr>
          </a:p>
          <a:p>
            <a:pPr marL="0" indent="0">
              <a:buNone/>
            </a:pPr>
            <a:r>
              <a:rPr lang="en-US" dirty="0"/>
              <a:t>[Notes :</a:t>
            </a:r>
          </a:p>
          <a:p>
            <a:pPr>
              <a:buFontTx/>
              <a:buChar char="-"/>
            </a:pPr>
            <a:r>
              <a:rPr lang="en-US" dirty="0"/>
              <a:t>Add a box where to type the answers into</a:t>
            </a:r>
          </a:p>
          <a:p>
            <a:pPr>
              <a:buFontTx/>
              <a:buChar char="-"/>
            </a:pPr>
            <a:r>
              <a:rPr lang="en-US" dirty="0"/>
              <a:t>Maximum limit of text – 100 words</a:t>
            </a:r>
          </a:p>
          <a:p>
            <a:pPr marL="0" indent="0">
              <a:buNone/>
            </a:pPr>
            <a:endParaRPr lang="en-IN" dirty="0">
              <a:latin typeface="-apple-system"/>
            </a:endParaRPr>
          </a:p>
          <a:p>
            <a:pPr marL="0" indent="0">
              <a:buNone/>
            </a:pPr>
            <a:endParaRPr lang="en-IN" dirty="0">
              <a:latin typeface="-apple-system"/>
            </a:endParaRPr>
          </a:p>
          <a:p>
            <a:pPr marL="0" indent="0">
              <a:buNone/>
            </a:pPr>
            <a:r>
              <a:rPr lang="en-IN" dirty="0">
                <a:latin typeface="-apple-system"/>
              </a:rPr>
              <a:t>Minimum time - 60 s; maximum time – 120 s</a:t>
            </a:r>
            <a:endParaRPr lang="en-US" dirty="0"/>
          </a:p>
          <a:p>
            <a:pPr marL="0" indent="0">
              <a:buNone/>
            </a:pPr>
            <a:endParaRPr lang="en-US" dirty="0"/>
          </a:p>
        </p:txBody>
      </p:sp>
    </p:spTree>
    <p:extLst>
      <p:ext uri="{BB962C8B-B14F-4D97-AF65-F5344CB8AC3E}">
        <p14:creationId xmlns:p14="http://schemas.microsoft.com/office/powerpoint/2010/main" val="2349331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DD004-0BC5-8D38-5E4D-43B76844E8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CF39BF-B0A1-CAE5-4268-9BD495EE0AB2}"/>
              </a:ext>
            </a:extLst>
          </p:cNvPr>
          <p:cNvSpPr>
            <a:spLocks noGrp="1"/>
          </p:cNvSpPr>
          <p:nvPr>
            <p:ph type="title"/>
          </p:nvPr>
        </p:nvSpPr>
        <p:spPr/>
        <p:txBody>
          <a:bodyPr/>
          <a:lstStyle/>
          <a:p>
            <a:r>
              <a:rPr lang="en-US" dirty="0"/>
              <a:t>QUESTION – 5</a:t>
            </a:r>
          </a:p>
        </p:txBody>
      </p:sp>
      <p:sp>
        <p:nvSpPr>
          <p:cNvPr id="3" name="Content Placeholder 2">
            <a:extLst>
              <a:ext uri="{FF2B5EF4-FFF2-40B4-BE49-F238E27FC236}">
                <a16:creationId xmlns:a16="http://schemas.microsoft.com/office/drawing/2014/main" id="{F876C7CA-3892-0BCA-D413-7304AEF14DDD}"/>
              </a:ext>
            </a:extLst>
          </p:cNvPr>
          <p:cNvSpPr>
            <a:spLocks noGrp="1"/>
          </p:cNvSpPr>
          <p:nvPr>
            <p:ph idx="1"/>
          </p:nvPr>
        </p:nvSpPr>
        <p:spPr/>
        <p:txBody>
          <a:bodyPr>
            <a:normAutofit fontScale="92500" lnSpcReduction="20000"/>
          </a:bodyPr>
          <a:lstStyle/>
          <a:p>
            <a:pPr marL="0" indent="0">
              <a:buNone/>
            </a:pPr>
            <a:r>
              <a:rPr lang="en-IN" b="0" i="0" u="none" strike="noStrike" dirty="0">
                <a:effectLst/>
                <a:latin typeface="-apple-system"/>
              </a:rPr>
              <a:t>Categorize the outcome of the scenario where the commander is a traitor and sends “attack” to one lieutenant and “retreat” to the other.</a:t>
            </a:r>
            <a:br>
              <a:rPr lang="en-IN" dirty="0"/>
            </a:br>
            <a:r>
              <a:rPr lang="en-IN" b="0" i="0" u="none" strike="noStrike" dirty="0">
                <a:effectLst/>
                <a:latin typeface="-apple-system"/>
              </a:rPr>
              <a:t>(80–120 words)</a:t>
            </a:r>
          </a:p>
          <a:p>
            <a:pPr marL="0" indent="0">
              <a:buNone/>
            </a:pPr>
            <a:endParaRPr lang="en-IN" dirty="0">
              <a:latin typeface="-apple-system"/>
            </a:endParaRPr>
          </a:p>
          <a:p>
            <a:pPr marL="0" indent="0">
              <a:buNone/>
            </a:pPr>
            <a:endParaRPr lang="en-IN" dirty="0">
              <a:latin typeface="-apple-system"/>
            </a:endParaRPr>
          </a:p>
          <a:p>
            <a:pPr marL="0" indent="0">
              <a:buNone/>
            </a:pPr>
            <a:r>
              <a:rPr lang="en-US" dirty="0"/>
              <a:t>[Notes :</a:t>
            </a:r>
          </a:p>
          <a:p>
            <a:pPr>
              <a:buFontTx/>
              <a:buChar char="-"/>
            </a:pPr>
            <a:r>
              <a:rPr lang="en-US" dirty="0"/>
              <a:t>Add a box where to type the answers into</a:t>
            </a:r>
          </a:p>
          <a:p>
            <a:pPr>
              <a:buFontTx/>
              <a:buChar char="-"/>
            </a:pPr>
            <a:r>
              <a:rPr lang="en-US" dirty="0"/>
              <a:t>Maximum limit of text – 200 words</a:t>
            </a:r>
          </a:p>
          <a:p>
            <a:pPr marL="0" indent="0">
              <a:buNone/>
            </a:pPr>
            <a:endParaRPr lang="en-IN" dirty="0">
              <a:latin typeface="-apple-system"/>
            </a:endParaRPr>
          </a:p>
          <a:p>
            <a:pPr marL="0" indent="0">
              <a:buNone/>
            </a:pPr>
            <a:endParaRPr lang="en-IN" dirty="0">
              <a:latin typeface="-apple-system"/>
            </a:endParaRPr>
          </a:p>
          <a:p>
            <a:pPr marL="0" indent="0">
              <a:buNone/>
            </a:pPr>
            <a:r>
              <a:rPr lang="en-IN" dirty="0">
                <a:latin typeface="-apple-system"/>
              </a:rPr>
              <a:t>Minimum time – 120 s; maximum time – 240 s</a:t>
            </a:r>
            <a:endParaRPr lang="en-US" dirty="0"/>
          </a:p>
          <a:p>
            <a:pPr marL="0" indent="0">
              <a:buNone/>
            </a:pPr>
            <a:endParaRPr lang="en-US" dirty="0"/>
          </a:p>
        </p:txBody>
      </p:sp>
    </p:spTree>
    <p:extLst>
      <p:ext uri="{BB962C8B-B14F-4D97-AF65-F5344CB8AC3E}">
        <p14:creationId xmlns:p14="http://schemas.microsoft.com/office/powerpoint/2010/main" val="40471475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F8055-C853-B6A8-DCA5-B9A25BC8DB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A0A8BD-500D-F627-2456-193884E6F212}"/>
              </a:ext>
            </a:extLst>
          </p:cNvPr>
          <p:cNvSpPr>
            <a:spLocks noGrp="1"/>
          </p:cNvSpPr>
          <p:nvPr>
            <p:ph type="title"/>
          </p:nvPr>
        </p:nvSpPr>
        <p:spPr/>
        <p:txBody>
          <a:bodyPr/>
          <a:lstStyle/>
          <a:p>
            <a:r>
              <a:rPr lang="en-US" dirty="0"/>
              <a:t>QUESTION – 6</a:t>
            </a:r>
          </a:p>
        </p:txBody>
      </p:sp>
      <p:sp>
        <p:nvSpPr>
          <p:cNvPr id="3" name="Content Placeholder 2">
            <a:extLst>
              <a:ext uri="{FF2B5EF4-FFF2-40B4-BE49-F238E27FC236}">
                <a16:creationId xmlns:a16="http://schemas.microsoft.com/office/drawing/2014/main" id="{FD3261E6-DB7B-C2F7-7A98-0D3326A8E1AA}"/>
              </a:ext>
            </a:extLst>
          </p:cNvPr>
          <p:cNvSpPr>
            <a:spLocks noGrp="1"/>
          </p:cNvSpPr>
          <p:nvPr>
            <p:ph idx="1"/>
          </p:nvPr>
        </p:nvSpPr>
        <p:spPr/>
        <p:txBody>
          <a:bodyPr>
            <a:normAutofit fontScale="92500" lnSpcReduction="10000"/>
          </a:bodyPr>
          <a:lstStyle/>
          <a:p>
            <a:pPr marL="0" indent="0">
              <a:buNone/>
            </a:pPr>
            <a:r>
              <a:rPr lang="en-IN" b="0" i="0" u="none" strike="noStrike" dirty="0">
                <a:effectLst/>
                <a:latin typeface="-apple-system"/>
              </a:rPr>
              <a:t>Illustrate how condition A2' would be applied if four loyal generals all believe the best plan is "attack," but two traitors suggest "retreat." According to the text, what must the final decision ? </a:t>
            </a:r>
            <a:r>
              <a:rPr lang="en-IN" dirty="0">
                <a:latin typeface="-apple-system"/>
              </a:rPr>
              <a:t>Answer in 30-60 words. </a:t>
            </a:r>
          </a:p>
          <a:p>
            <a:pPr marL="0" indent="0">
              <a:buNone/>
            </a:pPr>
            <a:endParaRPr lang="en-IN" dirty="0">
              <a:latin typeface="-apple-system"/>
            </a:endParaRPr>
          </a:p>
          <a:p>
            <a:pPr marL="0" indent="0">
              <a:buNone/>
            </a:pPr>
            <a:r>
              <a:rPr lang="en-US" dirty="0"/>
              <a:t>[Notes :</a:t>
            </a:r>
          </a:p>
          <a:p>
            <a:pPr>
              <a:buFontTx/>
              <a:buChar char="-"/>
            </a:pPr>
            <a:r>
              <a:rPr lang="en-US" dirty="0"/>
              <a:t>Add a box where to type the answers into</a:t>
            </a:r>
          </a:p>
          <a:p>
            <a:pPr>
              <a:buFontTx/>
              <a:buChar char="-"/>
            </a:pPr>
            <a:r>
              <a:rPr lang="en-US" dirty="0"/>
              <a:t>Maximum limit of text – 100 words</a:t>
            </a:r>
          </a:p>
          <a:p>
            <a:pPr marL="0" indent="0">
              <a:buNone/>
            </a:pPr>
            <a:endParaRPr lang="en-IN" dirty="0">
              <a:latin typeface="-apple-system"/>
            </a:endParaRPr>
          </a:p>
          <a:p>
            <a:pPr marL="0" indent="0">
              <a:buNone/>
            </a:pPr>
            <a:endParaRPr lang="en-IN" dirty="0">
              <a:latin typeface="-apple-system"/>
            </a:endParaRPr>
          </a:p>
          <a:p>
            <a:pPr marL="0" indent="0">
              <a:buNone/>
            </a:pPr>
            <a:r>
              <a:rPr lang="en-IN" dirty="0"/>
              <a:t>minimum time – 60 s; maximum time – 90 s</a:t>
            </a:r>
            <a:endParaRPr lang="en-US" dirty="0"/>
          </a:p>
        </p:txBody>
      </p:sp>
    </p:spTree>
    <p:extLst>
      <p:ext uri="{BB962C8B-B14F-4D97-AF65-F5344CB8AC3E}">
        <p14:creationId xmlns:p14="http://schemas.microsoft.com/office/powerpoint/2010/main" val="28872703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964</TotalTime>
  <Words>1665</Words>
  <Application>Microsoft Macintosh PowerPoint</Application>
  <PresentationFormat>Widescreen</PresentationFormat>
  <Paragraphs>163</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-apple-system</vt:lpstr>
      <vt:lpstr>Aptos</vt:lpstr>
      <vt:lpstr>Aptos Display</vt:lpstr>
      <vt:lpstr>Arial</vt:lpstr>
      <vt:lpstr>Office Theme</vt:lpstr>
      <vt:lpstr>POST READING ASSESSMENT</vt:lpstr>
      <vt:lpstr>TEXT 1 </vt:lpstr>
      <vt:lpstr> QUESTION - 1 </vt:lpstr>
      <vt:lpstr>QUESTION - 2</vt:lpstr>
      <vt:lpstr>QUESTION - 3</vt:lpstr>
      <vt:lpstr>QUESTION -  4</vt:lpstr>
      <vt:lpstr>QUESTION - 5</vt:lpstr>
      <vt:lpstr>QUESTION - 6</vt:lpstr>
      <vt:lpstr>TEXT 2</vt:lpstr>
      <vt:lpstr>QUESTION - 1</vt:lpstr>
      <vt:lpstr>QUESTION - 2</vt:lpstr>
      <vt:lpstr>QUESTION - 3</vt:lpstr>
      <vt:lpstr>QUESTION - 4</vt:lpstr>
      <vt:lpstr>QUESTION - 5</vt:lpstr>
      <vt:lpstr>QUESTION – 6</vt:lpstr>
      <vt:lpstr>TEXT 3</vt:lpstr>
      <vt:lpstr>QUESTION – 1</vt:lpstr>
      <vt:lpstr>QUESTION – 2</vt:lpstr>
      <vt:lpstr>QUESTION – 3</vt:lpstr>
      <vt:lpstr>QUESTION – 4</vt:lpstr>
      <vt:lpstr>QUESTION – 5</vt:lpstr>
      <vt:lpstr>QUESTION – 6</vt:lpstr>
      <vt:lpstr>TEXT 4</vt:lpstr>
      <vt:lpstr>QUESTION – 1</vt:lpstr>
      <vt:lpstr>QUESTION – 2</vt:lpstr>
      <vt:lpstr>QUESTION – 3</vt:lpstr>
      <vt:lpstr>QUESTION – 4</vt:lpstr>
      <vt:lpstr>QUESTION – 5</vt:lpstr>
      <vt:lpstr>QUESTION –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JAHNVI  SINGH</dc:creator>
  <cp:lastModifiedBy>JAHNVI  SINGH</cp:lastModifiedBy>
  <cp:revision>1</cp:revision>
  <dcterms:created xsi:type="dcterms:W3CDTF">2026-03-14T14:54:05Z</dcterms:created>
  <dcterms:modified xsi:type="dcterms:W3CDTF">2026-03-15T06:58:21Z</dcterms:modified>
</cp:coreProperties>
</file>